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69" r:id="rId2"/>
    <p:sldId id="268" r:id="rId3"/>
    <p:sldId id="286" r:id="rId4"/>
    <p:sldId id="301" r:id="rId5"/>
    <p:sldId id="311" r:id="rId6"/>
    <p:sldId id="310" r:id="rId7"/>
    <p:sldId id="308" r:id="rId8"/>
    <p:sldId id="298" r:id="rId9"/>
    <p:sldId id="299" r:id="rId10"/>
    <p:sldId id="304" r:id="rId11"/>
    <p:sldId id="303" r:id="rId12"/>
    <p:sldId id="302" r:id="rId13"/>
    <p:sldId id="305" r:id="rId14"/>
    <p:sldId id="306" r:id="rId15"/>
    <p:sldId id="287" r:id="rId16"/>
    <p:sldId id="289" r:id="rId17"/>
    <p:sldId id="313" r:id="rId18"/>
    <p:sldId id="312" r:id="rId19"/>
  </p:sldIdLst>
  <p:sldSz cx="9144000" cy="6858000" type="screen4x3"/>
  <p:notesSz cx="6973888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D7B68C-B16E-41D0-AFDB-9DCCB66DAF43}">
          <p14:sldIdLst>
            <p14:sldId id="269"/>
            <p14:sldId id="268"/>
            <p14:sldId id="286"/>
            <p14:sldId id="301"/>
            <p14:sldId id="311"/>
            <p14:sldId id="310"/>
            <p14:sldId id="308"/>
            <p14:sldId id="298"/>
            <p14:sldId id="299"/>
            <p14:sldId id="304"/>
            <p14:sldId id="303"/>
            <p14:sldId id="302"/>
            <p14:sldId id="305"/>
            <p14:sldId id="306"/>
            <p14:sldId id="287"/>
            <p14:sldId id="289"/>
            <p14:sldId id="313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man, Jeremy S" initials="BJS" lastIdx="1" clrIdx="0">
    <p:extLst>
      <p:ext uri="{19B8F6BF-5375-455C-9EA6-DF929625EA0E}">
        <p15:presenceInfo xmlns:p15="http://schemas.microsoft.com/office/powerpoint/2012/main" userId="S-1-5-21-1417001333-343818398-1801674531-7987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0" autoAdjust="0"/>
    <p:restoredTop sz="94660"/>
  </p:normalViewPr>
  <p:slideViewPr>
    <p:cSldViewPr>
      <p:cViewPr varScale="1">
        <p:scale>
          <a:sx n="110" d="100"/>
          <a:sy n="110" d="100"/>
        </p:scale>
        <p:origin x="175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26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9700" y="0"/>
            <a:ext cx="30226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84008-355C-4576-9CE4-705F006C3727}" type="datetimeFigureOut">
              <a:rPr lang="en-US" smtClean="0"/>
              <a:t>2/28/2019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08113" y="1154113"/>
            <a:ext cx="415766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6913" y="4445000"/>
            <a:ext cx="5580062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226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9700" y="8772525"/>
            <a:ext cx="30226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CAF2E-5FDA-4A0D-A3FB-FC70F5037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8C1EF-687E-4D8A-88DE-8CC66FDFB3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89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the context of salt</a:t>
            </a:r>
            <a:r>
              <a:rPr lang="en-US" baseline="0" dirty="0" smtClean="0"/>
              <a:t> inversion, phase-field builds on conventional </a:t>
            </a:r>
            <a:r>
              <a:rPr lang="en-US" baseline="0" dirty="0" err="1" smtClean="0"/>
              <a:t>voxelized</a:t>
            </a:r>
            <a:r>
              <a:rPr lang="en-US" baseline="0" dirty="0" smtClean="0"/>
              <a:t> acoustic version, in which cell values of the bulk modulus are solved for.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E49505-4C64-431B-A5D0-BD0B8CC1DD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64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82C71-E3B0-4296-83A4-C4128CA956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98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8C1EF-687E-4D8A-88DE-8CC66FDFB3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5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Acknowledge lack of realism.</a:t>
            </a:r>
            <a:r>
              <a:rPr lang="en-US" baseline="0" dirty="0" smtClean="0"/>
              <a:t>  Explain situation and future work to remedy it.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82C71-E3B0-4296-83A4-C4128CA956C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5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Point out we get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8C1EF-687E-4D8A-88DE-8CC66FDFB3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2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200" dirty="0" smtClean="0"/>
                  <a:t>Modified-</a:t>
                </a:r>
                <a:r>
                  <a:rPr lang="en-US" sz="1200" dirty="0" err="1" smtClean="0"/>
                  <a:t>Marmousi</a:t>
                </a:r>
                <a:r>
                  <a:rPr lang="en-US" sz="1200" dirty="0" smtClean="0"/>
                  <a:t> model (17km x 3.1km) with inclusions of two additional salt anomalies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dirty="0" smtClean="0"/>
                  <a:t>Survey </a:t>
                </a:r>
              </a:p>
              <a:p>
                <a:pPr lvl="1"/>
                <a:r>
                  <a:rPr lang="en-US" sz="1600" dirty="0" smtClean="0"/>
                  <a:t>100 sources and 500 receivers on the surface</a:t>
                </a:r>
              </a:p>
              <a:p>
                <a:pPr lvl="1"/>
                <a:r>
                  <a:rPr lang="en-US" sz="1600" dirty="0" smtClean="0"/>
                  <a:t>5Hz Peak frequency Ricker with 2Hz low cut filtered</a:t>
                </a:r>
                <a:endParaRPr lang="en-US" dirty="0" smtClean="0"/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 smtClean="0"/>
                  <a:t>FWI Algorithm</a:t>
                </a:r>
              </a:p>
              <a:p>
                <a:pPr lvl="1"/>
                <a:r>
                  <a:rPr lang="en-US" sz="1600" dirty="0" smtClean="0"/>
                  <a:t>Simultaneous source-encoding changing every iteration </a:t>
                </a:r>
              </a:p>
              <a:p>
                <a:pPr lvl="1"/>
                <a:r>
                  <a:rPr lang="en-US" sz="1600" dirty="0" smtClean="0"/>
                  <a:t>Gauss-Newton with 10 CG linear iterations</a:t>
                </a:r>
              </a:p>
              <a:p>
                <a:pPr lvl="1"/>
                <a:r>
                  <a:rPr lang="en-US" sz="1600" dirty="0"/>
                  <a:t>Inverting for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600" dirty="0">
                                <a:latin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/>
                              </a:rPr>
                              <m:t>𝑃</m:t>
                            </m:r>
                          </m:sub>
                          <m:sup>
                            <m:r>
                              <a:rPr lang="en-US" sz="1600" i="1" dirty="0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200" dirty="0" smtClean="0"/>
                  <a:t>Modified-</a:t>
                </a:r>
                <a:r>
                  <a:rPr lang="en-US" sz="1200" dirty="0" err="1" smtClean="0"/>
                  <a:t>Marmousi</a:t>
                </a:r>
                <a:r>
                  <a:rPr lang="en-US" sz="1200" dirty="0" smtClean="0"/>
                  <a:t> model (17km x 3.1km) with inclusions of two additional salt anomalies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dirty="0" smtClean="0"/>
                  <a:t>Survey </a:t>
                </a:r>
              </a:p>
              <a:p>
                <a:pPr lvl="1"/>
                <a:r>
                  <a:rPr lang="en-US" sz="1600" dirty="0" smtClean="0"/>
                  <a:t>100 sources and 500 receivers on the surface</a:t>
                </a:r>
              </a:p>
              <a:p>
                <a:pPr lvl="1"/>
                <a:r>
                  <a:rPr lang="en-US" sz="1600" dirty="0" smtClean="0"/>
                  <a:t>5Hz Peak frequency Ricker with 2Hz low cut filtered</a:t>
                </a:r>
                <a:endParaRPr lang="en-US" dirty="0" smtClean="0"/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1800" dirty="0" smtClean="0"/>
                  <a:t>FWI Algorithm</a:t>
                </a:r>
              </a:p>
              <a:p>
                <a:pPr lvl="1"/>
                <a:r>
                  <a:rPr lang="en-US" sz="1600" dirty="0" smtClean="0"/>
                  <a:t>Simultaneous </a:t>
                </a:r>
                <a:r>
                  <a:rPr lang="en-US" sz="1600" dirty="0" smtClean="0"/>
                  <a:t>source-encoding changing every iteration </a:t>
                </a:r>
              </a:p>
              <a:p>
                <a:pPr lvl="1"/>
                <a:r>
                  <a:rPr lang="en-US" sz="1600" dirty="0" smtClean="0"/>
                  <a:t>Gauss-Newton with 10 CG linear iterations</a:t>
                </a:r>
              </a:p>
              <a:p>
                <a:pPr lvl="1"/>
                <a:r>
                  <a:rPr lang="en-US" sz="1600" dirty="0"/>
                  <a:t>Inverting for </a:t>
                </a:r>
                <a:r>
                  <a:rPr lang="en-US" sz="1600" i="0" dirty="0">
                    <a:latin typeface="Cambria Math"/>
                  </a:rPr>
                  <a:t>1</a:t>
                </a:r>
                <a:r>
                  <a:rPr lang="en-US" sz="1600" i="0" dirty="0">
                    <a:latin typeface="Cambria Math" panose="02040503050406030204" pitchFamily="18" charset="0"/>
                  </a:rPr>
                  <a:t>⁄(</a:t>
                </a:r>
                <a:r>
                  <a:rPr lang="en-US" sz="1600" i="0" dirty="0">
                    <a:latin typeface="Cambria Math"/>
                  </a:rPr>
                  <a:t>V</a:t>
                </a:r>
                <a:r>
                  <a:rPr lang="en-US" sz="1600" i="0" dirty="0">
                    <a:latin typeface="Cambria Math" panose="02040503050406030204" pitchFamily="18" charset="0"/>
                  </a:rPr>
                  <a:t>_</a:t>
                </a:r>
                <a:r>
                  <a:rPr lang="en-US" sz="1600" i="0" dirty="0">
                    <a:latin typeface="Cambria Math"/>
                  </a:rPr>
                  <a:t>𝑃</a:t>
                </a:r>
                <a:r>
                  <a:rPr lang="en-US" sz="1600" i="0" dirty="0">
                    <a:latin typeface="Cambria Math" panose="02040503050406030204" pitchFamily="18" charset="0"/>
                  </a:rPr>
                  <a:t>^</a:t>
                </a:r>
                <a:r>
                  <a:rPr lang="en-US" sz="1600" i="0" dirty="0">
                    <a:latin typeface="Cambria Math"/>
                  </a:rPr>
                  <a:t>2</a:t>
                </a:r>
                <a:r>
                  <a:rPr lang="en-US" sz="1600" i="0" dirty="0">
                    <a:latin typeface="Cambria Math" panose="02040503050406030204" pitchFamily="18" charset="0"/>
                  </a:rPr>
                  <a:t> 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8CAF2E-5FDA-4A0D-A3FB-FC70F50379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9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8C1EF-687E-4D8A-88DE-8CC66FDFB3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01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8C1EF-687E-4D8A-88DE-8CC66FDFB3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78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aphic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1325080"/>
            <a:ext cx="9144000" cy="3081528"/>
          </a:xfrm>
          <a:prstGeom prst="rect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 descr="EM_pattern_PowerPoint_White.png"/>
          <p:cNvPicPr>
            <a:picLocks noChangeAspect="1"/>
          </p:cNvPicPr>
          <p:nvPr userDrawn="1"/>
        </p:nvPicPr>
        <p:blipFill>
          <a:blip r:embed="rId2">
            <a:alphaModFix amt="6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25080"/>
            <a:ext cx="9144000" cy="308457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 bwMode="white">
          <a:xfrm>
            <a:off x="475488" y="1900826"/>
            <a:ext cx="8206550" cy="18288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 b="0" i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4"/>
          <p:cNvSpPr>
            <a:spLocks noGrp="1"/>
          </p:cNvSpPr>
          <p:nvPr>
            <p:ph sz="quarter" idx="11"/>
          </p:nvPr>
        </p:nvSpPr>
        <p:spPr bwMode="white">
          <a:xfrm>
            <a:off x="475488" y="1576845"/>
            <a:ext cx="3657600" cy="314325"/>
          </a:xfrm>
        </p:spPr>
        <p:txBody>
          <a:bodyPr/>
          <a:lstStyle>
            <a:lvl1pPr marL="0" indent="0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4" name="Picture 13" descr="exmo_elh_tm_w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672" y="3875313"/>
            <a:ext cx="1792224" cy="324454"/>
          </a:xfrm>
          <a:prstGeom prst="rect">
            <a:avLst/>
          </a:prstGeom>
        </p:spPr>
      </p:pic>
      <p:pic>
        <p:nvPicPr>
          <p:cNvPr id="15" name="Picture 14" descr="exmo_red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6460490" y="432873"/>
            <a:ext cx="2249424" cy="45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0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454025" y="1309688"/>
            <a:ext cx="8225399" cy="48133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9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">
    <p:bg>
      <p:bgPr>
        <a:gradFill flip="none" rotWithShape="1">
          <a:gsLst>
            <a:gs pos="0">
              <a:schemeClr val="accent1"/>
            </a:gs>
            <a:gs pos="100000">
              <a:schemeClr val="accent2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454025" y="1309688"/>
            <a:ext cx="8225399" cy="48133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0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9144000" cy="6858000"/>
          </a:xfrm>
          <a:solidFill>
            <a:schemeClr val="bg1">
              <a:lumMod val="8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3461"/>
            <a:ext cx="8229600" cy="7627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14" y="1309692"/>
            <a:ext cx="8229600" cy="4525963"/>
          </a:xfrm>
        </p:spPr>
        <p:txBody>
          <a:bodyPr/>
          <a:lstStyle>
            <a:lvl1pPr marL="0" indent="0">
              <a:buFontTx/>
              <a:buNone/>
              <a:defRPr sz="2000" b="0">
                <a:solidFill>
                  <a:schemeClr val="bg1"/>
                </a:solidFill>
              </a:defRPr>
            </a:lvl1pPr>
            <a:lvl2pPr marL="227012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454025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688975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915987" indent="0">
              <a:buFontTx/>
              <a:buNone/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3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447674" y="1798319"/>
            <a:ext cx="8229981" cy="4321493"/>
          </a:xfrm>
        </p:spPr>
        <p:txBody>
          <a:bodyPr rtlCol="0" anchor="ctr" anchorCtr="1">
            <a:noAutofit/>
          </a:bodyPr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447675" y="1363403"/>
            <a:ext cx="8228965" cy="424757"/>
          </a:xfrm>
        </p:spPr>
        <p:txBody>
          <a:bodyPr/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Chart title goes here (optional)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9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126162" y="1363403"/>
            <a:ext cx="2559485" cy="475641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447675" y="1801563"/>
            <a:ext cx="5657850" cy="4318250"/>
          </a:xfrm>
        </p:spPr>
        <p:txBody>
          <a:bodyPr rtlCol="0" anchor="ctr" anchorCtr="1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47676" y="1363403"/>
            <a:ext cx="5656530" cy="424757"/>
          </a:xfrm>
        </p:spPr>
        <p:txBody>
          <a:bodyPr/>
          <a:lstStyle>
            <a:lvl1pPr marL="0" indent="0">
              <a:buNone/>
              <a:defRPr sz="1600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Chart title goes here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0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s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36776"/>
            <a:ext cx="2509520" cy="2286787"/>
          </a:xfrm>
        </p:spPr>
        <p:txBody>
          <a:bodyPr/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114800"/>
            <a:ext cx="8229600" cy="2013585"/>
          </a:xfrm>
        </p:spPr>
        <p:txBody>
          <a:bodyPr/>
          <a:lstStyle>
            <a:lvl1pPr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  <a:lvl2pPr>
              <a:defRPr sz="1800">
                <a:solidFill>
                  <a:srgbClr val="000000"/>
                </a:solidFill>
              </a:defRPr>
            </a:lvl2pPr>
            <a:lvl3pPr>
              <a:defRPr sz="1800">
                <a:solidFill>
                  <a:srgbClr val="000000"/>
                </a:solidFill>
              </a:defRPr>
            </a:lvl3pPr>
            <a:lvl4pPr>
              <a:defRPr sz="1800">
                <a:solidFill>
                  <a:srgbClr val="000000"/>
                </a:solidFill>
              </a:defRPr>
            </a:lvl4pPr>
            <a:lvl5pPr>
              <a:defRPr sz="1800">
                <a:solidFill>
                  <a:srgbClr val="000000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2"/>
          </p:nvPr>
        </p:nvSpPr>
        <p:spPr>
          <a:xfrm>
            <a:off x="3317240" y="1636776"/>
            <a:ext cx="2509520" cy="2286787"/>
          </a:xfrm>
        </p:spPr>
        <p:txBody>
          <a:bodyPr/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3"/>
          </p:nvPr>
        </p:nvSpPr>
        <p:spPr>
          <a:xfrm>
            <a:off x="6177280" y="1636776"/>
            <a:ext cx="2509520" cy="2286787"/>
          </a:xfrm>
        </p:spPr>
        <p:txBody>
          <a:bodyPr/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6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9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885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5775" y="2998788"/>
            <a:ext cx="563245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06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toid Blue">
    <p:bg>
      <p:bgPr>
        <a:gradFill flip="none" rotWithShape="1">
          <a:gsLst>
            <a:gs pos="0">
              <a:schemeClr val="accent1"/>
            </a:gs>
            <a:gs pos="100000">
              <a:schemeClr val="accent2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459582" y="1719072"/>
            <a:ext cx="8230090" cy="2190494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16000" b="0" i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2" name="Content Placeholder 4"/>
          <p:cNvSpPr>
            <a:spLocks noGrp="1"/>
          </p:cNvSpPr>
          <p:nvPr>
            <p:ph sz="quarter" idx="11"/>
          </p:nvPr>
        </p:nvSpPr>
        <p:spPr>
          <a:xfrm>
            <a:off x="457199" y="3895344"/>
            <a:ext cx="8224117" cy="18288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4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9235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oi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459582" y="1719072"/>
            <a:ext cx="8230090" cy="2190494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16000" b="0" i="0" baseline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12" name="Content Placeholder 4"/>
          <p:cNvSpPr>
            <a:spLocks noGrp="1"/>
          </p:cNvSpPr>
          <p:nvPr>
            <p:ph sz="quarter" idx="11"/>
          </p:nvPr>
        </p:nvSpPr>
        <p:spPr>
          <a:xfrm>
            <a:off x="457199" y="3895344"/>
            <a:ext cx="8224117" cy="18288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40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977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actoid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5099050" y="1773936"/>
            <a:ext cx="3653684" cy="1828800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>
              <a:lnSpc>
                <a:spcPct val="90000"/>
              </a:lnSpc>
              <a:buNone/>
              <a:defRPr lang="en-US" sz="13200" b="0" i="0" baseline="0" dirty="0" smtClean="0">
                <a:solidFill>
                  <a:schemeClr val="accent2"/>
                </a:solidFill>
                <a:latin typeface="Arial"/>
                <a:cs typeface="Arial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 smtClean="0"/>
              <a:t>Data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457200" y="1773936"/>
            <a:ext cx="3653684" cy="1828800"/>
          </a:xfr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90000"/>
              </a:lnSpc>
              <a:buNone/>
              <a:defRPr lang="en-US" sz="13200" dirty="0" smtClean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 smtClean="0"/>
              <a:t>Data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1"/>
          </p:nvPr>
        </p:nvSpPr>
        <p:spPr>
          <a:xfrm>
            <a:off x="457200" y="3576638"/>
            <a:ext cx="3653684" cy="18288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32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5099050" y="3576638"/>
            <a:ext cx="3653684" cy="18288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lang="en-US" sz="32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7411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5613" y="11430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90000"/>
              </a:lnSpc>
              <a:defRPr lang="en-US" sz="7200" b="0" baseline="0" dirty="0">
                <a:solidFill>
                  <a:srgbClr val="000000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76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/>
          <p:cNvSpPr>
            <a:spLocks noGrp="1"/>
          </p:cNvSpPr>
          <p:nvPr>
            <p:ph type="ctrTitle"/>
          </p:nvPr>
        </p:nvSpPr>
        <p:spPr>
          <a:xfrm>
            <a:off x="457200" y="1147064"/>
            <a:ext cx="8229600" cy="45638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90000"/>
              </a:lnSpc>
              <a:defRPr lang="en-US" sz="7200" b="0" baseline="0" dirty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393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">
    <p:bg>
      <p:bgPr>
        <a:gradFill rotWithShape="1">
          <a:gsLst>
            <a:gs pos="0">
              <a:schemeClr val="accent1"/>
            </a:gs>
            <a:gs pos="100000">
              <a:schemeClr val="accent2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ctrTitle"/>
          </p:nvPr>
        </p:nvSpPr>
        <p:spPr>
          <a:xfrm>
            <a:off x="457200" y="1147064"/>
            <a:ext cx="8229600" cy="45638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90000"/>
              </a:lnSpc>
              <a:defRPr lang="en-US" sz="7200" b="0" baseline="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898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ing Blue">
    <p:bg>
      <p:bgPr>
        <a:gradFill flip="none" rotWithShape="1">
          <a:gsLst>
            <a:gs pos="0">
              <a:schemeClr val="accent1"/>
            </a:gs>
            <a:gs pos="100000">
              <a:schemeClr val="accent2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457200" y="1143000"/>
            <a:ext cx="8229600" cy="4572000"/>
          </a:xfrm>
        </p:spPr>
        <p:txBody>
          <a:bodyPr anchor="ctr"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1588" indent="0">
              <a:buNone/>
              <a:defRPr sz="4400">
                <a:solidFill>
                  <a:schemeClr val="bg1"/>
                </a:solidFill>
              </a:defRPr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20331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457200" y="1143000"/>
            <a:ext cx="8229600" cy="4572000"/>
          </a:xfrm>
        </p:spPr>
        <p:txBody>
          <a:bodyPr anchor="ctr"/>
          <a:lstStyle>
            <a:lvl1pPr marL="0" indent="0">
              <a:buNone/>
              <a:defRPr sz="4400">
                <a:solidFill>
                  <a:srgbClr val="000000"/>
                </a:solidFill>
              </a:defRPr>
            </a:lvl1pPr>
            <a:lvl2pPr marL="1588" indent="0">
              <a:buNone/>
              <a:defRPr sz="4400">
                <a:solidFill>
                  <a:srgbClr val="000000"/>
                </a:solidFill>
              </a:defRPr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08847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with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" y="3558234"/>
            <a:ext cx="9144000" cy="3299765"/>
          </a:xfrm>
          <a:solidFill>
            <a:schemeClr val="bg1">
              <a:lumMod val="8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454025" y="1309688"/>
            <a:ext cx="8225399" cy="2112096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38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with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1" y="3558234"/>
            <a:ext cx="4572000" cy="3299765"/>
          </a:xfrm>
          <a:solidFill>
            <a:schemeClr val="bg1">
              <a:lumMod val="8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454025" y="1309688"/>
            <a:ext cx="8225399" cy="2112096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2000" y="3558234"/>
            <a:ext cx="4572000" cy="3299765"/>
          </a:xfrm>
          <a:solidFill>
            <a:schemeClr val="bg1">
              <a:lumMod val="8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2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93688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12863"/>
            <a:ext cx="8229600" cy="480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8394700" y="6450013"/>
            <a:ext cx="29210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61EB682E-F9F7-A84A-866D-693BB3909AC4}" type="slidenum">
              <a:rPr lang="en-US" sz="800">
                <a:solidFill>
                  <a:srgbClr val="000000"/>
                </a:solidFill>
                <a:ea typeface="Arial"/>
                <a:cs typeface="Arial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800" dirty="0">
              <a:solidFill>
                <a:srgbClr val="000000"/>
              </a:solidFill>
              <a:ea typeface="Arial"/>
              <a:cs typeface="Arial" charset="0"/>
            </a:endParaRPr>
          </a:p>
        </p:txBody>
      </p:sp>
      <p:pic>
        <p:nvPicPr>
          <p:cNvPr id="7" name="Picture 10" descr="exmo_r.bmp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725" y="6419109"/>
            <a:ext cx="10255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908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Arial"/>
          <a:ea typeface="Arial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227013" indent="-227013" algn="l" defTabSz="457200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sz="2000" kern="1200">
          <a:solidFill>
            <a:srgbClr val="000000"/>
          </a:solidFill>
          <a:latin typeface="+mn-lt"/>
          <a:ea typeface="Arial"/>
          <a:cs typeface="Arial"/>
        </a:defRPr>
      </a:lvl1pPr>
      <a:lvl2pPr marL="454025" indent="-227013" algn="l" defTabSz="457200" rtl="0" eaLnBrk="1" fontAlgn="base" hangingPunct="1">
        <a:spcBef>
          <a:spcPts val="600"/>
        </a:spcBef>
        <a:spcAft>
          <a:spcPct val="0"/>
        </a:spcAft>
        <a:buFont typeface="Arial" charset="0"/>
        <a:buChar char="•"/>
        <a:defRPr sz="1800" kern="1200">
          <a:solidFill>
            <a:srgbClr val="000000"/>
          </a:solidFill>
          <a:latin typeface="+mn-lt"/>
          <a:ea typeface="Arial"/>
          <a:cs typeface="+mn-cs"/>
        </a:defRPr>
      </a:lvl2pPr>
      <a:lvl3pPr marL="688975" indent="-234950" algn="l" defTabSz="457200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sz="1800" kern="1200">
          <a:solidFill>
            <a:srgbClr val="000000"/>
          </a:solidFill>
          <a:latin typeface="+mn-lt"/>
          <a:ea typeface="Arial"/>
          <a:cs typeface="+mn-cs"/>
        </a:defRPr>
      </a:lvl3pPr>
      <a:lvl4pPr marL="915988" indent="-227013" algn="l" defTabSz="569913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sz="1800" kern="1200">
          <a:solidFill>
            <a:srgbClr val="000000"/>
          </a:solidFill>
          <a:latin typeface="+mn-lt"/>
          <a:ea typeface="Arial"/>
          <a:cs typeface="+mn-cs"/>
        </a:defRPr>
      </a:lvl4pPr>
      <a:lvl5pPr marL="1143000" indent="-227013" algn="l" defTabSz="457200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sz="1800" kern="1200">
          <a:solidFill>
            <a:srgbClr val="000000"/>
          </a:solidFill>
          <a:latin typeface="+mn-lt"/>
          <a:ea typeface="Arial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0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20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440.png"/><Relationship Id="rId10" Type="http://schemas.openxmlformats.org/officeDocument/2006/relationships/image" Target="../media/image480.png"/><Relationship Id="rId4" Type="http://schemas.openxmlformats.org/officeDocument/2006/relationships/image" Target="../media/image430.png"/><Relationship Id="rId9" Type="http://schemas.openxmlformats.org/officeDocument/2006/relationships/image" Target="../media/image4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1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23.png"/><Relationship Id="rId15" Type="http://schemas.openxmlformats.org/officeDocument/2006/relationships/image" Target="../media/image37.png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680.png"/><Relationship Id="rId5" Type="http://schemas.openxmlformats.org/officeDocument/2006/relationships/image" Target="../media/image190.png"/><Relationship Id="rId10" Type="http://schemas.openxmlformats.org/officeDocument/2006/relationships/image" Target="../media/image32.png"/><Relationship Id="rId4" Type="http://schemas.openxmlformats.org/officeDocument/2006/relationships/image" Target="../media/image63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0.png"/><Relationship Id="rId11" Type="http://schemas.openxmlformats.org/officeDocument/2006/relationships/image" Target="../media/image43.png"/><Relationship Id="rId15" Type="http://schemas.openxmlformats.org/officeDocument/2006/relationships/image" Target="../media/image44.png"/><Relationship Id="rId10" Type="http://schemas.openxmlformats.org/officeDocument/2006/relationships/image" Target="../media/image42.png"/><Relationship Id="rId4" Type="http://schemas.openxmlformats.org/officeDocument/2006/relationships/image" Target="../media/image39.png"/><Relationship Id="rId9" Type="http://schemas.openxmlformats.org/officeDocument/2006/relationships/image" Target="../media/image41.png"/><Relationship Id="rId1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50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75.png"/><Relationship Id="rId5" Type="http://schemas.openxmlformats.org/officeDocument/2006/relationships/image" Target="../media/image68.png"/><Relationship Id="rId15" Type="http://schemas.openxmlformats.org/officeDocument/2006/relationships/image" Target="../media/image64.png"/><Relationship Id="rId10" Type="http://schemas.openxmlformats.org/officeDocument/2006/relationships/image" Target="../media/image73.png"/><Relationship Id="rId4" Type="http://schemas.openxmlformats.org/officeDocument/2006/relationships/image" Target="../media/image65.png"/><Relationship Id="rId9" Type="http://schemas.openxmlformats.org/officeDocument/2006/relationships/image" Target="../media/image72.png"/><Relationship Id="rId1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8265" y="1676400"/>
            <a:ext cx="8087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Shape-constrained inversion in Geoscience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828800" y="3581400"/>
            <a:ext cx="5713424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 smtClean="0"/>
              <a:t>Huseyin Denli and Jeremy Brandman</a:t>
            </a:r>
          </a:p>
          <a:p>
            <a:pPr algn="ctr"/>
            <a:endParaRPr lang="en-US" sz="2600" dirty="0" smtClean="0"/>
          </a:p>
          <a:p>
            <a:pPr algn="ctr"/>
            <a:r>
              <a:rPr lang="en-US" sz="2600" dirty="0" smtClean="0"/>
              <a:t>SIAM </a:t>
            </a:r>
            <a:r>
              <a:rPr lang="en-US" sz="2600" dirty="0"/>
              <a:t>Geosciences </a:t>
            </a:r>
            <a:r>
              <a:rPr lang="en-US" sz="2600" dirty="0" smtClean="0"/>
              <a:t>Conference</a:t>
            </a:r>
          </a:p>
          <a:p>
            <a:pPr algn="ctr"/>
            <a:endParaRPr lang="en-US" sz="2600" dirty="0"/>
          </a:p>
          <a:p>
            <a:pPr algn="ctr"/>
            <a:r>
              <a:rPr lang="en-US" sz="2600" dirty="0" smtClean="0"/>
              <a:t>March 11, 2019</a:t>
            </a:r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0080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200" dirty="0" smtClean="0"/>
              <a:t>Motivation</a:t>
            </a:r>
          </a:p>
          <a:p>
            <a:pPr>
              <a:lnSpc>
                <a:spcPct val="150000"/>
              </a:lnSpc>
            </a:pPr>
            <a:r>
              <a:rPr lang="en-US" sz="2200" dirty="0" smtClean="0"/>
              <a:t>Examples</a:t>
            </a:r>
          </a:p>
          <a:p>
            <a:pPr lvl="1">
              <a:lnSpc>
                <a:spcPct val="150000"/>
              </a:lnSpc>
            </a:pPr>
            <a:r>
              <a:rPr lang="en-US" sz="2200" dirty="0" smtClean="0"/>
              <a:t>History matching anisotropic permeability</a:t>
            </a:r>
          </a:p>
          <a:p>
            <a:pPr lvl="1">
              <a:lnSpc>
                <a:spcPct val="150000"/>
              </a:lnSpc>
            </a:pPr>
            <a:r>
              <a:rPr lang="en-US" sz="2200" dirty="0" smtClean="0"/>
              <a:t>Joint inversion of travel-time and gravity data</a:t>
            </a:r>
          </a:p>
          <a:p>
            <a:pPr lvl="1">
              <a:lnSpc>
                <a:spcPct val="150000"/>
              </a:lnSpc>
            </a:pPr>
            <a:r>
              <a:rPr lang="en-US" sz="2200" dirty="0" smtClean="0"/>
              <a:t>Multi-scale </a:t>
            </a:r>
            <a:r>
              <a:rPr lang="en-US" sz="2200" smtClean="0"/>
              <a:t>FWI </a:t>
            </a:r>
            <a:endParaRPr lang="en-US" sz="2200" dirty="0" smtClean="0"/>
          </a:p>
          <a:p>
            <a:pPr>
              <a:lnSpc>
                <a:spcPct val="150000"/>
              </a:lnSpc>
            </a:pPr>
            <a:r>
              <a:rPr lang="en-US" sz="2200" dirty="0" smtClean="0"/>
              <a:t>Conclusion</a:t>
            </a:r>
            <a:endParaRPr lang="en-US" sz="22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74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93688"/>
            <a:ext cx="8483600" cy="762000"/>
          </a:xfrm>
        </p:spPr>
        <p:txBody>
          <a:bodyPr/>
          <a:lstStyle/>
          <a:p>
            <a:r>
              <a:rPr lang="en-US" dirty="0" smtClean="0"/>
              <a:t>Our goal is to estimate multiple subsurface parameters in a structurally consistent manner</a:t>
            </a:r>
            <a:endParaRPr lang="en-US" dirty="0"/>
          </a:p>
        </p:txBody>
      </p:sp>
      <p:pic>
        <p:nvPicPr>
          <p:cNvPr id="12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8" r="12104" b="20230"/>
          <a:stretch/>
        </p:blipFill>
        <p:spPr bwMode="auto">
          <a:xfrm>
            <a:off x="1981200" y="3559169"/>
            <a:ext cx="4774259" cy="99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TextBox 124"/>
          <p:cNvSpPr txBox="1"/>
          <p:nvPr/>
        </p:nvSpPr>
        <p:spPr>
          <a:xfrm>
            <a:off x="5333826" y="3286988"/>
            <a:ext cx="139333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smtClean="0"/>
              <a:t>Boundary set</a:t>
            </a:r>
            <a:endParaRPr lang="en-US" sz="1600" dirty="0"/>
          </a:p>
        </p:txBody>
      </p:sp>
      <p:sp>
        <p:nvSpPr>
          <p:cNvPr id="126" name="TextBox 125"/>
          <p:cNvSpPr txBox="1"/>
          <p:nvPr/>
        </p:nvSpPr>
        <p:spPr>
          <a:xfrm>
            <a:off x="2816376" y="4723429"/>
            <a:ext cx="3390705" cy="24622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1600" dirty="0" err="1" smtClean="0">
                <a:solidFill>
                  <a:schemeClr val="tx1"/>
                </a:solidFill>
              </a:rPr>
              <a:t>Geobody</a:t>
            </a:r>
            <a:r>
              <a:rPr lang="en-US" sz="1400" dirty="0" smtClean="0">
                <a:solidFill>
                  <a:schemeClr val="tx1"/>
                </a:solidFill>
              </a:rPr>
              <a:t> (e.g. container)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810000" y="5072554"/>
            <a:ext cx="28208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P/S-wave velocities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Anisotropy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Attenuation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Conductivity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Permeability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…</a:t>
            </a:r>
            <a:endParaRPr lang="en-US" sz="1400" dirty="0"/>
          </a:p>
        </p:txBody>
      </p:sp>
      <p:cxnSp>
        <p:nvCxnSpPr>
          <p:cNvPr id="131" name="Straight Arrow Connector 49"/>
          <p:cNvCxnSpPr/>
          <p:nvPr/>
        </p:nvCxnSpPr>
        <p:spPr>
          <a:xfrm rot="16200000" flipH="1">
            <a:off x="4758234" y="4552174"/>
            <a:ext cx="340032" cy="2478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4521782" y="4310473"/>
            <a:ext cx="883478" cy="83663"/>
          </a:xfrm>
          <a:custGeom>
            <a:avLst/>
            <a:gdLst>
              <a:gd name="connsiteX0" fmla="*/ 52388 w 816641"/>
              <a:gd name="connsiteY0" fmla="*/ 67323 h 81611"/>
              <a:gd name="connsiteX1" fmla="*/ 147638 w 816641"/>
              <a:gd name="connsiteY1" fmla="*/ 10173 h 81611"/>
              <a:gd name="connsiteX2" fmla="*/ 542925 w 816641"/>
              <a:gd name="connsiteY2" fmla="*/ 5411 h 81611"/>
              <a:gd name="connsiteX3" fmla="*/ 790575 w 816641"/>
              <a:gd name="connsiteY3" fmla="*/ 67323 h 81611"/>
              <a:gd name="connsiteX4" fmla="*/ 800100 w 816641"/>
              <a:gd name="connsiteY4" fmla="*/ 72086 h 81611"/>
              <a:gd name="connsiteX5" fmla="*/ 709613 w 816641"/>
              <a:gd name="connsiteY5" fmla="*/ 81611 h 81611"/>
              <a:gd name="connsiteX6" fmla="*/ 476250 w 816641"/>
              <a:gd name="connsiteY6" fmla="*/ 72086 h 81611"/>
              <a:gd name="connsiteX7" fmla="*/ 180975 w 816641"/>
              <a:gd name="connsiteY7" fmla="*/ 72086 h 81611"/>
              <a:gd name="connsiteX8" fmla="*/ 0 w 816641"/>
              <a:gd name="connsiteY8" fmla="*/ 67323 h 81611"/>
              <a:gd name="connsiteX0" fmla="*/ 52388 w 816802"/>
              <a:gd name="connsiteY0" fmla="*/ 70528 h 84816"/>
              <a:gd name="connsiteX1" fmla="*/ 147638 w 816802"/>
              <a:gd name="connsiteY1" fmla="*/ 13378 h 84816"/>
              <a:gd name="connsiteX2" fmla="*/ 542925 w 816802"/>
              <a:gd name="connsiteY2" fmla="*/ 8616 h 84816"/>
              <a:gd name="connsiteX3" fmla="*/ 540544 w 816802"/>
              <a:gd name="connsiteY3" fmla="*/ 3853 h 84816"/>
              <a:gd name="connsiteX4" fmla="*/ 790575 w 816802"/>
              <a:gd name="connsiteY4" fmla="*/ 70528 h 84816"/>
              <a:gd name="connsiteX5" fmla="*/ 800100 w 816802"/>
              <a:gd name="connsiteY5" fmla="*/ 75291 h 84816"/>
              <a:gd name="connsiteX6" fmla="*/ 709613 w 816802"/>
              <a:gd name="connsiteY6" fmla="*/ 84816 h 84816"/>
              <a:gd name="connsiteX7" fmla="*/ 476250 w 816802"/>
              <a:gd name="connsiteY7" fmla="*/ 75291 h 84816"/>
              <a:gd name="connsiteX8" fmla="*/ 180975 w 816802"/>
              <a:gd name="connsiteY8" fmla="*/ 75291 h 84816"/>
              <a:gd name="connsiteX9" fmla="*/ 0 w 816802"/>
              <a:gd name="connsiteY9" fmla="*/ 70528 h 84816"/>
              <a:gd name="connsiteX0" fmla="*/ 52388 w 810181"/>
              <a:gd name="connsiteY0" fmla="*/ 64001 h 78289"/>
              <a:gd name="connsiteX1" fmla="*/ 147638 w 810181"/>
              <a:gd name="connsiteY1" fmla="*/ 6851 h 78289"/>
              <a:gd name="connsiteX2" fmla="*/ 542925 w 810181"/>
              <a:gd name="connsiteY2" fmla="*/ 2089 h 78289"/>
              <a:gd name="connsiteX3" fmla="*/ 645319 w 810181"/>
              <a:gd name="connsiteY3" fmla="*/ 16376 h 78289"/>
              <a:gd name="connsiteX4" fmla="*/ 790575 w 810181"/>
              <a:gd name="connsiteY4" fmla="*/ 64001 h 78289"/>
              <a:gd name="connsiteX5" fmla="*/ 800100 w 810181"/>
              <a:gd name="connsiteY5" fmla="*/ 68764 h 78289"/>
              <a:gd name="connsiteX6" fmla="*/ 709613 w 810181"/>
              <a:gd name="connsiteY6" fmla="*/ 78289 h 78289"/>
              <a:gd name="connsiteX7" fmla="*/ 476250 w 810181"/>
              <a:gd name="connsiteY7" fmla="*/ 68764 h 78289"/>
              <a:gd name="connsiteX8" fmla="*/ 180975 w 810181"/>
              <a:gd name="connsiteY8" fmla="*/ 68764 h 78289"/>
              <a:gd name="connsiteX9" fmla="*/ 0 w 810181"/>
              <a:gd name="connsiteY9" fmla="*/ 64001 h 78289"/>
              <a:gd name="connsiteX0" fmla="*/ 52388 w 810181"/>
              <a:gd name="connsiteY0" fmla="*/ 64001 h 78289"/>
              <a:gd name="connsiteX1" fmla="*/ 147638 w 810181"/>
              <a:gd name="connsiteY1" fmla="*/ 6851 h 78289"/>
              <a:gd name="connsiteX2" fmla="*/ 542925 w 810181"/>
              <a:gd name="connsiteY2" fmla="*/ 2089 h 78289"/>
              <a:gd name="connsiteX3" fmla="*/ 645319 w 810181"/>
              <a:gd name="connsiteY3" fmla="*/ 16376 h 78289"/>
              <a:gd name="connsiteX4" fmla="*/ 790575 w 810181"/>
              <a:gd name="connsiteY4" fmla="*/ 64001 h 78289"/>
              <a:gd name="connsiteX5" fmla="*/ 800100 w 810181"/>
              <a:gd name="connsiteY5" fmla="*/ 68764 h 78289"/>
              <a:gd name="connsiteX6" fmla="*/ 709613 w 810181"/>
              <a:gd name="connsiteY6" fmla="*/ 78289 h 78289"/>
              <a:gd name="connsiteX7" fmla="*/ 476250 w 810181"/>
              <a:gd name="connsiteY7" fmla="*/ 68764 h 78289"/>
              <a:gd name="connsiteX8" fmla="*/ 180975 w 810181"/>
              <a:gd name="connsiteY8" fmla="*/ 68764 h 78289"/>
              <a:gd name="connsiteX9" fmla="*/ 0 w 810181"/>
              <a:gd name="connsiteY9" fmla="*/ 64001 h 78289"/>
              <a:gd name="connsiteX0" fmla="*/ 52388 w 810181"/>
              <a:gd name="connsiteY0" fmla="*/ 67425 h 81713"/>
              <a:gd name="connsiteX1" fmla="*/ 147638 w 810181"/>
              <a:gd name="connsiteY1" fmla="*/ 10275 h 81713"/>
              <a:gd name="connsiteX2" fmla="*/ 378619 w 810181"/>
              <a:gd name="connsiteY2" fmla="*/ 751 h 81713"/>
              <a:gd name="connsiteX3" fmla="*/ 645319 w 810181"/>
              <a:gd name="connsiteY3" fmla="*/ 19800 h 81713"/>
              <a:gd name="connsiteX4" fmla="*/ 790575 w 810181"/>
              <a:gd name="connsiteY4" fmla="*/ 67425 h 81713"/>
              <a:gd name="connsiteX5" fmla="*/ 800100 w 810181"/>
              <a:gd name="connsiteY5" fmla="*/ 72188 h 81713"/>
              <a:gd name="connsiteX6" fmla="*/ 709613 w 810181"/>
              <a:gd name="connsiteY6" fmla="*/ 81713 h 81713"/>
              <a:gd name="connsiteX7" fmla="*/ 476250 w 810181"/>
              <a:gd name="connsiteY7" fmla="*/ 72188 h 81713"/>
              <a:gd name="connsiteX8" fmla="*/ 180975 w 810181"/>
              <a:gd name="connsiteY8" fmla="*/ 72188 h 81713"/>
              <a:gd name="connsiteX9" fmla="*/ 0 w 810181"/>
              <a:gd name="connsiteY9" fmla="*/ 67425 h 81713"/>
              <a:gd name="connsiteX0" fmla="*/ 0 w 810181"/>
              <a:gd name="connsiteY0" fmla="*/ 67425 h 81713"/>
              <a:gd name="connsiteX1" fmla="*/ 147638 w 810181"/>
              <a:gd name="connsiteY1" fmla="*/ 10275 h 81713"/>
              <a:gd name="connsiteX2" fmla="*/ 378619 w 810181"/>
              <a:gd name="connsiteY2" fmla="*/ 751 h 81713"/>
              <a:gd name="connsiteX3" fmla="*/ 645319 w 810181"/>
              <a:gd name="connsiteY3" fmla="*/ 19800 h 81713"/>
              <a:gd name="connsiteX4" fmla="*/ 790575 w 810181"/>
              <a:gd name="connsiteY4" fmla="*/ 67425 h 81713"/>
              <a:gd name="connsiteX5" fmla="*/ 800100 w 810181"/>
              <a:gd name="connsiteY5" fmla="*/ 72188 h 81713"/>
              <a:gd name="connsiteX6" fmla="*/ 709613 w 810181"/>
              <a:gd name="connsiteY6" fmla="*/ 81713 h 81713"/>
              <a:gd name="connsiteX7" fmla="*/ 476250 w 810181"/>
              <a:gd name="connsiteY7" fmla="*/ 72188 h 81713"/>
              <a:gd name="connsiteX8" fmla="*/ 180975 w 810181"/>
              <a:gd name="connsiteY8" fmla="*/ 72188 h 81713"/>
              <a:gd name="connsiteX9" fmla="*/ 0 w 810181"/>
              <a:gd name="connsiteY9" fmla="*/ 67425 h 81713"/>
              <a:gd name="connsiteX0" fmla="*/ 0 w 800177"/>
              <a:gd name="connsiteY0" fmla="*/ 67425 h 81713"/>
              <a:gd name="connsiteX1" fmla="*/ 147638 w 800177"/>
              <a:gd name="connsiteY1" fmla="*/ 10275 h 81713"/>
              <a:gd name="connsiteX2" fmla="*/ 378619 w 800177"/>
              <a:gd name="connsiteY2" fmla="*/ 751 h 81713"/>
              <a:gd name="connsiteX3" fmla="*/ 645319 w 800177"/>
              <a:gd name="connsiteY3" fmla="*/ 19800 h 81713"/>
              <a:gd name="connsiteX4" fmla="*/ 723900 w 800177"/>
              <a:gd name="connsiteY4" fmla="*/ 38850 h 81713"/>
              <a:gd name="connsiteX5" fmla="*/ 800100 w 800177"/>
              <a:gd name="connsiteY5" fmla="*/ 72188 h 81713"/>
              <a:gd name="connsiteX6" fmla="*/ 709613 w 800177"/>
              <a:gd name="connsiteY6" fmla="*/ 81713 h 81713"/>
              <a:gd name="connsiteX7" fmla="*/ 476250 w 800177"/>
              <a:gd name="connsiteY7" fmla="*/ 72188 h 81713"/>
              <a:gd name="connsiteX8" fmla="*/ 180975 w 800177"/>
              <a:gd name="connsiteY8" fmla="*/ 72188 h 81713"/>
              <a:gd name="connsiteX9" fmla="*/ 0 w 800177"/>
              <a:gd name="connsiteY9" fmla="*/ 67425 h 81713"/>
              <a:gd name="connsiteX0" fmla="*/ 0 w 883478"/>
              <a:gd name="connsiteY0" fmla="*/ 67425 h 83663"/>
              <a:gd name="connsiteX1" fmla="*/ 147638 w 883478"/>
              <a:gd name="connsiteY1" fmla="*/ 10275 h 83663"/>
              <a:gd name="connsiteX2" fmla="*/ 378619 w 883478"/>
              <a:gd name="connsiteY2" fmla="*/ 751 h 83663"/>
              <a:gd name="connsiteX3" fmla="*/ 645319 w 883478"/>
              <a:gd name="connsiteY3" fmla="*/ 19800 h 83663"/>
              <a:gd name="connsiteX4" fmla="*/ 723900 w 883478"/>
              <a:gd name="connsiteY4" fmla="*/ 38850 h 83663"/>
              <a:gd name="connsiteX5" fmla="*/ 883444 w 883478"/>
              <a:gd name="connsiteY5" fmla="*/ 79332 h 83663"/>
              <a:gd name="connsiteX6" fmla="*/ 709613 w 883478"/>
              <a:gd name="connsiteY6" fmla="*/ 81713 h 83663"/>
              <a:gd name="connsiteX7" fmla="*/ 476250 w 883478"/>
              <a:gd name="connsiteY7" fmla="*/ 72188 h 83663"/>
              <a:gd name="connsiteX8" fmla="*/ 180975 w 883478"/>
              <a:gd name="connsiteY8" fmla="*/ 72188 h 83663"/>
              <a:gd name="connsiteX9" fmla="*/ 0 w 883478"/>
              <a:gd name="connsiteY9" fmla="*/ 67425 h 83663"/>
              <a:gd name="connsiteX0" fmla="*/ 0 w 883478"/>
              <a:gd name="connsiteY0" fmla="*/ 67425 h 83663"/>
              <a:gd name="connsiteX1" fmla="*/ 171450 w 883478"/>
              <a:gd name="connsiteY1" fmla="*/ 10275 h 83663"/>
              <a:gd name="connsiteX2" fmla="*/ 378619 w 883478"/>
              <a:gd name="connsiteY2" fmla="*/ 751 h 83663"/>
              <a:gd name="connsiteX3" fmla="*/ 645319 w 883478"/>
              <a:gd name="connsiteY3" fmla="*/ 19800 h 83663"/>
              <a:gd name="connsiteX4" fmla="*/ 723900 w 883478"/>
              <a:gd name="connsiteY4" fmla="*/ 38850 h 83663"/>
              <a:gd name="connsiteX5" fmla="*/ 883444 w 883478"/>
              <a:gd name="connsiteY5" fmla="*/ 79332 h 83663"/>
              <a:gd name="connsiteX6" fmla="*/ 709613 w 883478"/>
              <a:gd name="connsiteY6" fmla="*/ 81713 h 83663"/>
              <a:gd name="connsiteX7" fmla="*/ 476250 w 883478"/>
              <a:gd name="connsiteY7" fmla="*/ 72188 h 83663"/>
              <a:gd name="connsiteX8" fmla="*/ 180975 w 883478"/>
              <a:gd name="connsiteY8" fmla="*/ 72188 h 83663"/>
              <a:gd name="connsiteX9" fmla="*/ 0 w 883478"/>
              <a:gd name="connsiteY9" fmla="*/ 67425 h 8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3478" h="83663">
                <a:moveTo>
                  <a:pt x="0" y="67425"/>
                </a:moveTo>
                <a:cubicBezTo>
                  <a:pt x="6747" y="44009"/>
                  <a:pt x="108347" y="21387"/>
                  <a:pt x="171450" y="10275"/>
                </a:cubicBezTo>
                <a:cubicBezTo>
                  <a:pt x="234553" y="-837"/>
                  <a:pt x="299641" y="-836"/>
                  <a:pt x="378619" y="751"/>
                </a:cubicBezTo>
                <a:cubicBezTo>
                  <a:pt x="457597" y="2338"/>
                  <a:pt x="594519" y="7099"/>
                  <a:pt x="645319" y="19800"/>
                </a:cubicBezTo>
                <a:lnTo>
                  <a:pt x="723900" y="38850"/>
                </a:lnTo>
                <a:cubicBezTo>
                  <a:pt x="763587" y="48772"/>
                  <a:pt x="885825" y="72188"/>
                  <a:pt x="883444" y="79332"/>
                </a:cubicBezTo>
                <a:cubicBezTo>
                  <a:pt x="881063" y="86476"/>
                  <a:pt x="777479" y="82904"/>
                  <a:pt x="709613" y="81713"/>
                </a:cubicBezTo>
                <a:cubicBezTo>
                  <a:pt x="641747" y="80522"/>
                  <a:pt x="564356" y="73776"/>
                  <a:pt x="476250" y="72188"/>
                </a:cubicBezTo>
                <a:cubicBezTo>
                  <a:pt x="388144" y="70600"/>
                  <a:pt x="260350" y="72982"/>
                  <a:pt x="180975" y="72188"/>
                </a:cubicBezTo>
                <a:cubicBezTo>
                  <a:pt x="101600" y="71394"/>
                  <a:pt x="50800" y="69409"/>
                  <a:pt x="0" y="67425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2"/>
          <p:cNvSpPr txBox="1">
            <a:spLocks/>
          </p:cNvSpPr>
          <p:nvPr/>
        </p:nvSpPr>
        <p:spPr bwMode="auto">
          <a:xfrm>
            <a:off x="478971" y="1921075"/>
            <a:ext cx="8360229" cy="89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ヒラギノ角ゴ Pro W3" charset="0"/>
              </a:defRPr>
            </a:lvl9pPr>
          </a:lstStyle>
          <a:p>
            <a:r>
              <a:rPr lang="en-US" sz="2000" u="sng" dirty="0" smtClean="0">
                <a:solidFill>
                  <a:schemeClr val="tx1"/>
                </a:solidFill>
              </a:rPr>
              <a:t>Strategy</a:t>
            </a:r>
            <a:r>
              <a:rPr lang="en-US" sz="2000" dirty="0" smtClean="0">
                <a:solidFill>
                  <a:schemeClr val="tx1"/>
                </a:solidFill>
              </a:rPr>
              <a:t>: invert for geologic interfaces shared by the unknown subsurface parameters, along with parameter values within each </a:t>
            </a:r>
            <a:r>
              <a:rPr lang="en-US" sz="2000" dirty="0" err="1" smtClean="0">
                <a:solidFill>
                  <a:schemeClr val="tx1"/>
                </a:solidFill>
              </a:rPr>
              <a:t>geobody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02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6" grpId="0" animBg="1"/>
      <p:bldP spid="127" grpId="0"/>
      <p:bldP spid="11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e consider two shape-constrained inversion techniques: Mumford-Shah and phase-field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79565" y="1632326"/>
            <a:ext cx="26670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1336765" y="1860926"/>
            <a:ext cx="1665838" cy="778598"/>
          </a:xfrm>
          <a:custGeom>
            <a:avLst/>
            <a:gdLst>
              <a:gd name="connsiteX0" fmla="*/ 1258432 w 1665838"/>
              <a:gd name="connsiteY0" fmla="*/ 81481 h 778598"/>
              <a:gd name="connsiteX1" fmla="*/ 1258432 w 1665838"/>
              <a:gd name="connsiteY1" fmla="*/ 81481 h 778598"/>
              <a:gd name="connsiteX2" fmla="*/ 1104523 w 1665838"/>
              <a:gd name="connsiteY2" fmla="*/ 36213 h 778598"/>
              <a:gd name="connsiteX3" fmla="*/ 1077362 w 1665838"/>
              <a:gd name="connsiteY3" fmla="*/ 27160 h 778598"/>
              <a:gd name="connsiteX4" fmla="*/ 1013988 w 1665838"/>
              <a:gd name="connsiteY4" fmla="*/ 18107 h 778598"/>
              <a:gd name="connsiteX5" fmla="*/ 968721 w 1665838"/>
              <a:gd name="connsiteY5" fmla="*/ 9053 h 778598"/>
              <a:gd name="connsiteX6" fmla="*/ 814812 w 1665838"/>
              <a:gd name="connsiteY6" fmla="*/ 0 h 778598"/>
              <a:gd name="connsiteX7" fmla="*/ 506994 w 1665838"/>
              <a:gd name="connsiteY7" fmla="*/ 9053 h 778598"/>
              <a:gd name="connsiteX8" fmla="*/ 470780 w 1665838"/>
              <a:gd name="connsiteY8" fmla="*/ 18107 h 778598"/>
              <a:gd name="connsiteX9" fmla="*/ 380246 w 1665838"/>
              <a:gd name="connsiteY9" fmla="*/ 27160 h 778598"/>
              <a:gd name="connsiteX10" fmla="*/ 316871 w 1665838"/>
              <a:gd name="connsiteY10" fmla="*/ 36213 h 778598"/>
              <a:gd name="connsiteX11" fmla="*/ 253497 w 1665838"/>
              <a:gd name="connsiteY11" fmla="*/ 54320 h 778598"/>
              <a:gd name="connsiteX12" fmla="*/ 172016 w 1665838"/>
              <a:gd name="connsiteY12" fmla="*/ 81481 h 778598"/>
              <a:gd name="connsiteX13" fmla="*/ 108642 w 1665838"/>
              <a:gd name="connsiteY13" fmla="*/ 108641 h 778598"/>
              <a:gd name="connsiteX14" fmla="*/ 45267 w 1665838"/>
              <a:gd name="connsiteY14" fmla="*/ 162962 h 778598"/>
              <a:gd name="connsiteX15" fmla="*/ 27160 w 1665838"/>
              <a:gd name="connsiteY15" fmla="*/ 190122 h 778598"/>
              <a:gd name="connsiteX16" fmla="*/ 9054 w 1665838"/>
              <a:gd name="connsiteY16" fmla="*/ 244443 h 778598"/>
              <a:gd name="connsiteX17" fmla="*/ 0 w 1665838"/>
              <a:gd name="connsiteY17" fmla="*/ 271604 h 778598"/>
              <a:gd name="connsiteX18" fmla="*/ 9054 w 1665838"/>
              <a:gd name="connsiteY18" fmla="*/ 452673 h 778598"/>
              <a:gd name="connsiteX19" fmla="*/ 45267 w 1665838"/>
              <a:gd name="connsiteY19" fmla="*/ 534154 h 778598"/>
              <a:gd name="connsiteX20" fmla="*/ 63374 w 1665838"/>
              <a:gd name="connsiteY20" fmla="*/ 570368 h 778598"/>
              <a:gd name="connsiteX21" fmla="*/ 108642 w 1665838"/>
              <a:gd name="connsiteY21" fmla="*/ 633742 h 778598"/>
              <a:gd name="connsiteX22" fmla="*/ 135802 w 1665838"/>
              <a:gd name="connsiteY22" fmla="*/ 660903 h 778598"/>
              <a:gd name="connsiteX23" fmla="*/ 144856 w 1665838"/>
              <a:gd name="connsiteY23" fmla="*/ 688063 h 778598"/>
              <a:gd name="connsiteX24" fmla="*/ 172016 w 1665838"/>
              <a:gd name="connsiteY24" fmla="*/ 706170 h 778598"/>
              <a:gd name="connsiteX25" fmla="*/ 262551 w 1665838"/>
              <a:gd name="connsiteY25" fmla="*/ 742384 h 778598"/>
              <a:gd name="connsiteX26" fmla="*/ 334978 w 1665838"/>
              <a:gd name="connsiteY26" fmla="*/ 751437 h 778598"/>
              <a:gd name="connsiteX27" fmla="*/ 669957 w 1665838"/>
              <a:gd name="connsiteY27" fmla="*/ 742384 h 778598"/>
              <a:gd name="connsiteX28" fmla="*/ 860079 w 1665838"/>
              <a:gd name="connsiteY28" fmla="*/ 724277 h 778598"/>
              <a:gd name="connsiteX29" fmla="*/ 1149790 w 1665838"/>
              <a:gd name="connsiteY29" fmla="*/ 733330 h 778598"/>
              <a:gd name="connsiteX30" fmla="*/ 1249378 w 1665838"/>
              <a:gd name="connsiteY30" fmla="*/ 751437 h 778598"/>
              <a:gd name="connsiteX31" fmla="*/ 1312753 w 1665838"/>
              <a:gd name="connsiteY31" fmla="*/ 760491 h 778598"/>
              <a:gd name="connsiteX32" fmla="*/ 1348966 w 1665838"/>
              <a:gd name="connsiteY32" fmla="*/ 769544 h 778598"/>
              <a:gd name="connsiteX33" fmla="*/ 1403287 w 1665838"/>
              <a:gd name="connsiteY33" fmla="*/ 778598 h 778598"/>
              <a:gd name="connsiteX34" fmla="*/ 1557196 w 1665838"/>
              <a:gd name="connsiteY34" fmla="*/ 760491 h 778598"/>
              <a:gd name="connsiteX35" fmla="*/ 1584357 w 1665838"/>
              <a:gd name="connsiteY35" fmla="*/ 742384 h 778598"/>
              <a:gd name="connsiteX36" fmla="*/ 1638677 w 1665838"/>
              <a:gd name="connsiteY36" fmla="*/ 688063 h 778598"/>
              <a:gd name="connsiteX37" fmla="*/ 1656784 w 1665838"/>
              <a:gd name="connsiteY37" fmla="*/ 633742 h 778598"/>
              <a:gd name="connsiteX38" fmla="*/ 1665838 w 1665838"/>
              <a:gd name="connsiteY38" fmla="*/ 606582 h 778598"/>
              <a:gd name="connsiteX39" fmla="*/ 1638677 w 1665838"/>
              <a:gd name="connsiteY39" fmla="*/ 461726 h 778598"/>
              <a:gd name="connsiteX40" fmla="*/ 1629624 w 1665838"/>
              <a:gd name="connsiteY40" fmla="*/ 434566 h 778598"/>
              <a:gd name="connsiteX41" fmla="*/ 1602463 w 1665838"/>
              <a:gd name="connsiteY41" fmla="*/ 407406 h 778598"/>
              <a:gd name="connsiteX42" fmla="*/ 1566250 w 1665838"/>
              <a:gd name="connsiteY42" fmla="*/ 362138 h 778598"/>
              <a:gd name="connsiteX43" fmla="*/ 1548143 w 1665838"/>
              <a:gd name="connsiteY43" fmla="*/ 334978 h 778598"/>
              <a:gd name="connsiteX44" fmla="*/ 1520982 w 1665838"/>
              <a:gd name="connsiteY44" fmla="*/ 307817 h 778598"/>
              <a:gd name="connsiteX45" fmla="*/ 1502875 w 1665838"/>
              <a:gd name="connsiteY45" fmla="*/ 280657 h 778598"/>
              <a:gd name="connsiteX46" fmla="*/ 1448555 w 1665838"/>
              <a:gd name="connsiteY46" fmla="*/ 235390 h 778598"/>
              <a:gd name="connsiteX47" fmla="*/ 1421394 w 1665838"/>
              <a:gd name="connsiteY47" fmla="*/ 208229 h 778598"/>
              <a:gd name="connsiteX48" fmla="*/ 1367073 w 1665838"/>
              <a:gd name="connsiteY48" fmla="*/ 172015 h 778598"/>
              <a:gd name="connsiteX49" fmla="*/ 1312753 w 1665838"/>
              <a:gd name="connsiteY49" fmla="*/ 126748 h 778598"/>
              <a:gd name="connsiteX50" fmla="*/ 1294646 w 1665838"/>
              <a:gd name="connsiteY50" fmla="*/ 99588 h 778598"/>
              <a:gd name="connsiteX51" fmla="*/ 1267485 w 1665838"/>
              <a:gd name="connsiteY51" fmla="*/ 90534 h 778598"/>
              <a:gd name="connsiteX52" fmla="*/ 1258432 w 1665838"/>
              <a:gd name="connsiteY52" fmla="*/ 81481 h 778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665838" h="778598">
                <a:moveTo>
                  <a:pt x="1258432" y="81481"/>
                </a:moveTo>
                <a:lnTo>
                  <a:pt x="1258432" y="81481"/>
                </a:lnTo>
                <a:lnTo>
                  <a:pt x="1104523" y="36213"/>
                </a:lnTo>
                <a:cubicBezTo>
                  <a:pt x="1095382" y="33471"/>
                  <a:pt x="1086720" y="29032"/>
                  <a:pt x="1077362" y="27160"/>
                </a:cubicBezTo>
                <a:cubicBezTo>
                  <a:pt x="1056437" y="22975"/>
                  <a:pt x="1035037" y="21615"/>
                  <a:pt x="1013988" y="18107"/>
                </a:cubicBezTo>
                <a:cubicBezTo>
                  <a:pt x="998810" y="15577"/>
                  <a:pt x="984046" y="10446"/>
                  <a:pt x="968721" y="9053"/>
                </a:cubicBezTo>
                <a:cubicBezTo>
                  <a:pt x="917540" y="4400"/>
                  <a:pt x="866115" y="3018"/>
                  <a:pt x="814812" y="0"/>
                </a:cubicBezTo>
                <a:cubicBezTo>
                  <a:pt x="712206" y="3018"/>
                  <a:pt x="609502" y="3658"/>
                  <a:pt x="506994" y="9053"/>
                </a:cubicBezTo>
                <a:cubicBezTo>
                  <a:pt x="494568" y="9707"/>
                  <a:pt x="483098" y="16347"/>
                  <a:pt x="470780" y="18107"/>
                </a:cubicBezTo>
                <a:cubicBezTo>
                  <a:pt x="440756" y="22396"/>
                  <a:pt x="410367" y="23617"/>
                  <a:pt x="380246" y="27160"/>
                </a:cubicBezTo>
                <a:cubicBezTo>
                  <a:pt x="359053" y="29653"/>
                  <a:pt x="337996" y="33195"/>
                  <a:pt x="316871" y="36213"/>
                </a:cubicBezTo>
                <a:cubicBezTo>
                  <a:pt x="225632" y="66628"/>
                  <a:pt x="367127" y="20232"/>
                  <a:pt x="253497" y="54320"/>
                </a:cubicBezTo>
                <a:cubicBezTo>
                  <a:pt x="253435" y="54338"/>
                  <a:pt x="185627" y="76944"/>
                  <a:pt x="172016" y="81481"/>
                </a:cubicBezTo>
                <a:cubicBezTo>
                  <a:pt x="145611" y="90283"/>
                  <a:pt x="134216" y="92657"/>
                  <a:pt x="108642" y="108641"/>
                </a:cubicBezTo>
                <a:cubicBezTo>
                  <a:pt x="87795" y="121671"/>
                  <a:pt x="61368" y="143642"/>
                  <a:pt x="45267" y="162962"/>
                </a:cubicBezTo>
                <a:cubicBezTo>
                  <a:pt x="38301" y="171321"/>
                  <a:pt x="33196" y="181069"/>
                  <a:pt x="27160" y="190122"/>
                </a:cubicBezTo>
                <a:lnTo>
                  <a:pt x="9054" y="244443"/>
                </a:lnTo>
                <a:lnTo>
                  <a:pt x="0" y="271604"/>
                </a:lnTo>
                <a:cubicBezTo>
                  <a:pt x="3018" y="331960"/>
                  <a:pt x="2127" y="392640"/>
                  <a:pt x="9054" y="452673"/>
                </a:cubicBezTo>
                <a:cubicBezTo>
                  <a:pt x="14768" y="502193"/>
                  <a:pt x="25599" y="499735"/>
                  <a:pt x="45267" y="534154"/>
                </a:cubicBezTo>
                <a:cubicBezTo>
                  <a:pt x="51963" y="545872"/>
                  <a:pt x="56678" y="558650"/>
                  <a:pt x="63374" y="570368"/>
                </a:cubicBezTo>
                <a:cubicBezTo>
                  <a:pt x="71563" y="584698"/>
                  <a:pt x="100314" y="624026"/>
                  <a:pt x="108642" y="633742"/>
                </a:cubicBezTo>
                <a:cubicBezTo>
                  <a:pt x="116974" y="643463"/>
                  <a:pt x="126749" y="651849"/>
                  <a:pt x="135802" y="660903"/>
                </a:cubicBezTo>
                <a:cubicBezTo>
                  <a:pt x="138820" y="669956"/>
                  <a:pt x="138894" y="680611"/>
                  <a:pt x="144856" y="688063"/>
                </a:cubicBezTo>
                <a:cubicBezTo>
                  <a:pt x="151653" y="696559"/>
                  <a:pt x="162569" y="700772"/>
                  <a:pt x="172016" y="706170"/>
                </a:cubicBezTo>
                <a:cubicBezTo>
                  <a:pt x="194625" y="719090"/>
                  <a:pt x="238809" y="739416"/>
                  <a:pt x="262551" y="742384"/>
                </a:cubicBezTo>
                <a:lnTo>
                  <a:pt x="334978" y="751437"/>
                </a:lnTo>
                <a:lnTo>
                  <a:pt x="669957" y="742384"/>
                </a:lnTo>
                <a:cubicBezTo>
                  <a:pt x="805714" y="737261"/>
                  <a:pt x="775151" y="741262"/>
                  <a:pt x="860079" y="724277"/>
                </a:cubicBezTo>
                <a:cubicBezTo>
                  <a:pt x="956649" y="727295"/>
                  <a:pt x="1053299" y="728382"/>
                  <a:pt x="1149790" y="733330"/>
                </a:cubicBezTo>
                <a:cubicBezTo>
                  <a:pt x="1223351" y="737102"/>
                  <a:pt x="1193705" y="741315"/>
                  <a:pt x="1249378" y="751437"/>
                </a:cubicBezTo>
                <a:cubicBezTo>
                  <a:pt x="1270373" y="755254"/>
                  <a:pt x="1291758" y="756674"/>
                  <a:pt x="1312753" y="760491"/>
                </a:cubicBezTo>
                <a:cubicBezTo>
                  <a:pt x="1324995" y="762717"/>
                  <a:pt x="1336765" y="767104"/>
                  <a:pt x="1348966" y="769544"/>
                </a:cubicBezTo>
                <a:cubicBezTo>
                  <a:pt x="1366966" y="773144"/>
                  <a:pt x="1385180" y="775580"/>
                  <a:pt x="1403287" y="778598"/>
                </a:cubicBezTo>
                <a:cubicBezTo>
                  <a:pt x="1423306" y="777168"/>
                  <a:pt x="1516043" y="781067"/>
                  <a:pt x="1557196" y="760491"/>
                </a:cubicBezTo>
                <a:cubicBezTo>
                  <a:pt x="1566928" y="755625"/>
                  <a:pt x="1576224" y="749613"/>
                  <a:pt x="1584357" y="742384"/>
                </a:cubicBezTo>
                <a:cubicBezTo>
                  <a:pt x="1603496" y="725372"/>
                  <a:pt x="1638677" y="688063"/>
                  <a:pt x="1638677" y="688063"/>
                </a:cubicBezTo>
                <a:lnTo>
                  <a:pt x="1656784" y="633742"/>
                </a:lnTo>
                <a:lnTo>
                  <a:pt x="1665838" y="606582"/>
                </a:lnTo>
                <a:cubicBezTo>
                  <a:pt x="1654884" y="497053"/>
                  <a:pt x="1666375" y="544821"/>
                  <a:pt x="1638677" y="461726"/>
                </a:cubicBezTo>
                <a:cubicBezTo>
                  <a:pt x="1635659" y="452673"/>
                  <a:pt x="1636372" y="441314"/>
                  <a:pt x="1629624" y="434566"/>
                </a:cubicBezTo>
                <a:lnTo>
                  <a:pt x="1602463" y="407406"/>
                </a:lnTo>
                <a:cubicBezTo>
                  <a:pt x="1584839" y="354531"/>
                  <a:pt x="1607200" y="403088"/>
                  <a:pt x="1566250" y="362138"/>
                </a:cubicBezTo>
                <a:cubicBezTo>
                  <a:pt x="1558556" y="354444"/>
                  <a:pt x="1555109" y="343337"/>
                  <a:pt x="1548143" y="334978"/>
                </a:cubicBezTo>
                <a:cubicBezTo>
                  <a:pt x="1539946" y="325142"/>
                  <a:pt x="1529179" y="317653"/>
                  <a:pt x="1520982" y="307817"/>
                </a:cubicBezTo>
                <a:cubicBezTo>
                  <a:pt x="1514016" y="299458"/>
                  <a:pt x="1509841" y="289016"/>
                  <a:pt x="1502875" y="280657"/>
                </a:cubicBezTo>
                <a:cubicBezTo>
                  <a:pt x="1466807" y="237376"/>
                  <a:pt x="1487400" y="267761"/>
                  <a:pt x="1448555" y="235390"/>
                </a:cubicBezTo>
                <a:cubicBezTo>
                  <a:pt x="1438719" y="227193"/>
                  <a:pt x="1431501" y="216090"/>
                  <a:pt x="1421394" y="208229"/>
                </a:cubicBezTo>
                <a:cubicBezTo>
                  <a:pt x="1404216" y="194868"/>
                  <a:pt x="1382461" y="187403"/>
                  <a:pt x="1367073" y="172015"/>
                </a:cubicBezTo>
                <a:cubicBezTo>
                  <a:pt x="1332219" y="137161"/>
                  <a:pt x="1350566" y="151957"/>
                  <a:pt x="1312753" y="126748"/>
                </a:cubicBezTo>
                <a:cubicBezTo>
                  <a:pt x="1306717" y="117695"/>
                  <a:pt x="1303143" y="106385"/>
                  <a:pt x="1294646" y="99588"/>
                </a:cubicBezTo>
                <a:cubicBezTo>
                  <a:pt x="1287194" y="93626"/>
                  <a:pt x="1276021" y="94802"/>
                  <a:pt x="1267485" y="90534"/>
                </a:cubicBezTo>
                <a:cubicBezTo>
                  <a:pt x="1263668" y="88625"/>
                  <a:pt x="1261450" y="84499"/>
                  <a:pt x="1258432" y="81481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bg2">
                <a:alpha val="87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1272108" y="2918673"/>
            <a:ext cx="1602992" cy="353085"/>
          </a:xfrm>
          <a:custGeom>
            <a:avLst/>
            <a:gdLst>
              <a:gd name="connsiteX0" fmla="*/ 426041 w 1602992"/>
              <a:gd name="connsiteY0" fmla="*/ 63374 h 353085"/>
              <a:gd name="connsiteX1" fmla="*/ 426041 w 1602992"/>
              <a:gd name="connsiteY1" fmla="*/ 63374 h 353085"/>
              <a:gd name="connsiteX2" fmla="*/ 335507 w 1602992"/>
              <a:gd name="connsiteY2" fmla="*/ 81481 h 353085"/>
              <a:gd name="connsiteX3" fmla="*/ 308346 w 1602992"/>
              <a:gd name="connsiteY3" fmla="*/ 90534 h 353085"/>
              <a:gd name="connsiteX4" fmla="*/ 254025 w 1602992"/>
              <a:gd name="connsiteY4" fmla="*/ 99588 h 353085"/>
              <a:gd name="connsiteX5" fmla="*/ 226865 w 1602992"/>
              <a:gd name="connsiteY5" fmla="*/ 108641 h 353085"/>
              <a:gd name="connsiteX6" fmla="*/ 190651 w 1602992"/>
              <a:gd name="connsiteY6" fmla="*/ 117695 h 353085"/>
              <a:gd name="connsiteX7" fmla="*/ 100116 w 1602992"/>
              <a:gd name="connsiteY7" fmla="*/ 135802 h 353085"/>
              <a:gd name="connsiteX8" fmla="*/ 45796 w 1602992"/>
              <a:gd name="connsiteY8" fmla="*/ 153908 h 353085"/>
              <a:gd name="connsiteX9" fmla="*/ 528 w 1602992"/>
              <a:gd name="connsiteY9" fmla="*/ 199176 h 353085"/>
              <a:gd name="connsiteX10" fmla="*/ 36742 w 1602992"/>
              <a:gd name="connsiteY10" fmla="*/ 244443 h 353085"/>
              <a:gd name="connsiteX11" fmla="*/ 72956 w 1602992"/>
              <a:gd name="connsiteY11" fmla="*/ 271603 h 353085"/>
              <a:gd name="connsiteX12" fmla="*/ 127277 w 1602992"/>
              <a:gd name="connsiteY12" fmla="*/ 289710 h 353085"/>
              <a:gd name="connsiteX13" fmla="*/ 154437 w 1602992"/>
              <a:gd name="connsiteY13" fmla="*/ 298764 h 353085"/>
              <a:gd name="connsiteX14" fmla="*/ 244972 w 1602992"/>
              <a:gd name="connsiteY14" fmla="*/ 325924 h 353085"/>
              <a:gd name="connsiteX15" fmla="*/ 281186 w 1602992"/>
              <a:gd name="connsiteY15" fmla="*/ 334978 h 353085"/>
              <a:gd name="connsiteX16" fmla="*/ 308346 w 1602992"/>
              <a:gd name="connsiteY16" fmla="*/ 344031 h 353085"/>
              <a:gd name="connsiteX17" fmla="*/ 389827 w 1602992"/>
              <a:gd name="connsiteY17" fmla="*/ 353085 h 353085"/>
              <a:gd name="connsiteX18" fmla="*/ 525629 w 1602992"/>
              <a:gd name="connsiteY18" fmla="*/ 344031 h 353085"/>
              <a:gd name="connsiteX19" fmla="*/ 598057 w 1602992"/>
              <a:gd name="connsiteY19" fmla="*/ 325924 h 353085"/>
              <a:gd name="connsiteX20" fmla="*/ 742912 w 1602992"/>
              <a:gd name="connsiteY20" fmla="*/ 307817 h 353085"/>
              <a:gd name="connsiteX21" fmla="*/ 1041677 w 1602992"/>
              <a:gd name="connsiteY21" fmla="*/ 316871 h 353085"/>
              <a:gd name="connsiteX22" fmla="*/ 1222746 w 1602992"/>
              <a:gd name="connsiteY22" fmla="*/ 334978 h 353085"/>
              <a:gd name="connsiteX23" fmla="*/ 1313281 w 1602992"/>
              <a:gd name="connsiteY23" fmla="*/ 344031 h 353085"/>
              <a:gd name="connsiteX24" fmla="*/ 1485297 w 1602992"/>
              <a:gd name="connsiteY24" fmla="*/ 334978 h 353085"/>
              <a:gd name="connsiteX25" fmla="*/ 1512457 w 1602992"/>
              <a:gd name="connsiteY25" fmla="*/ 325924 h 353085"/>
              <a:gd name="connsiteX26" fmla="*/ 1548671 w 1602992"/>
              <a:gd name="connsiteY26" fmla="*/ 298764 h 353085"/>
              <a:gd name="connsiteX27" fmla="*/ 1575831 w 1602992"/>
              <a:gd name="connsiteY27" fmla="*/ 280657 h 353085"/>
              <a:gd name="connsiteX28" fmla="*/ 1602992 w 1602992"/>
              <a:gd name="connsiteY28" fmla="*/ 217283 h 353085"/>
              <a:gd name="connsiteX29" fmla="*/ 1593938 w 1602992"/>
              <a:gd name="connsiteY29" fmla="*/ 181069 h 353085"/>
              <a:gd name="connsiteX30" fmla="*/ 1584885 w 1602992"/>
              <a:gd name="connsiteY30" fmla="*/ 153908 h 353085"/>
              <a:gd name="connsiteX31" fmla="*/ 1557724 w 1602992"/>
              <a:gd name="connsiteY31" fmla="*/ 135802 h 353085"/>
              <a:gd name="connsiteX32" fmla="*/ 1530564 w 1602992"/>
              <a:gd name="connsiteY32" fmla="*/ 108641 h 353085"/>
              <a:gd name="connsiteX33" fmla="*/ 1467190 w 1602992"/>
              <a:gd name="connsiteY33" fmla="*/ 90534 h 353085"/>
              <a:gd name="connsiteX34" fmla="*/ 1385708 w 1602992"/>
              <a:gd name="connsiteY34" fmla="*/ 63374 h 353085"/>
              <a:gd name="connsiteX35" fmla="*/ 1358548 w 1602992"/>
              <a:gd name="connsiteY35" fmla="*/ 54320 h 353085"/>
              <a:gd name="connsiteX36" fmla="*/ 1286120 w 1602992"/>
              <a:gd name="connsiteY36" fmla="*/ 36213 h 353085"/>
              <a:gd name="connsiteX37" fmla="*/ 1204639 w 1602992"/>
              <a:gd name="connsiteY37" fmla="*/ 27160 h 353085"/>
              <a:gd name="connsiteX38" fmla="*/ 1114105 w 1602992"/>
              <a:gd name="connsiteY38" fmla="*/ 9053 h 353085"/>
              <a:gd name="connsiteX39" fmla="*/ 1005463 w 1602992"/>
              <a:gd name="connsiteY39" fmla="*/ 0 h 353085"/>
              <a:gd name="connsiteX40" fmla="*/ 652378 w 1602992"/>
              <a:gd name="connsiteY40" fmla="*/ 9053 h 353085"/>
              <a:gd name="connsiteX41" fmla="*/ 516576 w 1602992"/>
              <a:gd name="connsiteY41" fmla="*/ 36213 h 353085"/>
              <a:gd name="connsiteX42" fmla="*/ 426041 w 1602992"/>
              <a:gd name="connsiteY42" fmla="*/ 63374 h 353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602992" h="353085">
                <a:moveTo>
                  <a:pt x="426041" y="63374"/>
                </a:moveTo>
                <a:lnTo>
                  <a:pt x="426041" y="63374"/>
                </a:lnTo>
                <a:cubicBezTo>
                  <a:pt x="395863" y="69410"/>
                  <a:pt x="365495" y="74561"/>
                  <a:pt x="335507" y="81481"/>
                </a:cubicBezTo>
                <a:cubicBezTo>
                  <a:pt x="326208" y="83627"/>
                  <a:pt x="317662" y="88464"/>
                  <a:pt x="308346" y="90534"/>
                </a:cubicBezTo>
                <a:cubicBezTo>
                  <a:pt x="290426" y="94516"/>
                  <a:pt x="271945" y="95606"/>
                  <a:pt x="254025" y="99588"/>
                </a:cubicBezTo>
                <a:cubicBezTo>
                  <a:pt x="244709" y="101658"/>
                  <a:pt x="236041" y="106019"/>
                  <a:pt x="226865" y="108641"/>
                </a:cubicBezTo>
                <a:cubicBezTo>
                  <a:pt x="214901" y="112059"/>
                  <a:pt x="202852" y="115255"/>
                  <a:pt x="190651" y="117695"/>
                </a:cubicBezTo>
                <a:cubicBezTo>
                  <a:pt x="141689" y="127487"/>
                  <a:pt x="142187" y="123181"/>
                  <a:pt x="100116" y="135802"/>
                </a:cubicBezTo>
                <a:cubicBezTo>
                  <a:pt x="81835" y="141286"/>
                  <a:pt x="45796" y="153908"/>
                  <a:pt x="45796" y="153908"/>
                </a:cubicBezTo>
                <a:cubicBezTo>
                  <a:pt x="29952" y="164471"/>
                  <a:pt x="4300" y="176541"/>
                  <a:pt x="528" y="199176"/>
                </a:cubicBezTo>
                <a:cubicBezTo>
                  <a:pt x="-3943" y="226005"/>
                  <a:pt x="20986" y="233189"/>
                  <a:pt x="36742" y="244443"/>
                </a:cubicBezTo>
                <a:cubicBezTo>
                  <a:pt x="49020" y="253213"/>
                  <a:pt x="59460" y="264855"/>
                  <a:pt x="72956" y="271603"/>
                </a:cubicBezTo>
                <a:cubicBezTo>
                  <a:pt x="90027" y="280139"/>
                  <a:pt x="109170" y="283674"/>
                  <a:pt x="127277" y="289710"/>
                </a:cubicBezTo>
                <a:cubicBezTo>
                  <a:pt x="136330" y="292728"/>
                  <a:pt x="146497" y="293470"/>
                  <a:pt x="154437" y="298764"/>
                </a:cubicBezTo>
                <a:cubicBezTo>
                  <a:pt x="202392" y="330733"/>
                  <a:pt x="164867" y="311359"/>
                  <a:pt x="244972" y="325924"/>
                </a:cubicBezTo>
                <a:cubicBezTo>
                  <a:pt x="257214" y="328150"/>
                  <a:pt x="269222" y="331560"/>
                  <a:pt x="281186" y="334978"/>
                </a:cubicBezTo>
                <a:cubicBezTo>
                  <a:pt x="290362" y="337600"/>
                  <a:pt x="298933" y="342462"/>
                  <a:pt x="308346" y="344031"/>
                </a:cubicBezTo>
                <a:cubicBezTo>
                  <a:pt x="335302" y="348524"/>
                  <a:pt x="362667" y="350067"/>
                  <a:pt x="389827" y="353085"/>
                </a:cubicBezTo>
                <a:cubicBezTo>
                  <a:pt x="435094" y="350067"/>
                  <a:pt x="480642" y="349899"/>
                  <a:pt x="525629" y="344031"/>
                </a:cubicBezTo>
                <a:cubicBezTo>
                  <a:pt x="550306" y="340812"/>
                  <a:pt x="573421" y="329443"/>
                  <a:pt x="598057" y="325924"/>
                </a:cubicBezTo>
                <a:cubicBezTo>
                  <a:pt x="688484" y="313006"/>
                  <a:pt x="640222" y="319228"/>
                  <a:pt x="742912" y="307817"/>
                </a:cubicBezTo>
                <a:lnTo>
                  <a:pt x="1041677" y="316871"/>
                </a:lnTo>
                <a:cubicBezTo>
                  <a:pt x="1182144" y="322978"/>
                  <a:pt x="1119609" y="322844"/>
                  <a:pt x="1222746" y="334978"/>
                </a:cubicBezTo>
                <a:cubicBezTo>
                  <a:pt x="1252867" y="338522"/>
                  <a:pt x="1283103" y="341013"/>
                  <a:pt x="1313281" y="344031"/>
                </a:cubicBezTo>
                <a:cubicBezTo>
                  <a:pt x="1370620" y="341013"/>
                  <a:pt x="1428115" y="340176"/>
                  <a:pt x="1485297" y="334978"/>
                </a:cubicBezTo>
                <a:cubicBezTo>
                  <a:pt x="1494801" y="334114"/>
                  <a:pt x="1504171" y="330659"/>
                  <a:pt x="1512457" y="325924"/>
                </a:cubicBezTo>
                <a:cubicBezTo>
                  <a:pt x="1525558" y="318438"/>
                  <a:pt x="1536393" y="307534"/>
                  <a:pt x="1548671" y="298764"/>
                </a:cubicBezTo>
                <a:cubicBezTo>
                  <a:pt x="1557525" y="292440"/>
                  <a:pt x="1566778" y="286693"/>
                  <a:pt x="1575831" y="280657"/>
                </a:cubicBezTo>
                <a:cubicBezTo>
                  <a:pt x="1590615" y="258481"/>
                  <a:pt x="1602992" y="246514"/>
                  <a:pt x="1602992" y="217283"/>
                </a:cubicBezTo>
                <a:cubicBezTo>
                  <a:pt x="1602992" y="204840"/>
                  <a:pt x="1597356" y="193033"/>
                  <a:pt x="1593938" y="181069"/>
                </a:cubicBezTo>
                <a:cubicBezTo>
                  <a:pt x="1591316" y="171893"/>
                  <a:pt x="1590847" y="161360"/>
                  <a:pt x="1584885" y="153908"/>
                </a:cubicBezTo>
                <a:cubicBezTo>
                  <a:pt x="1578088" y="145411"/>
                  <a:pt x="1566083" y="142768"/>
                  <a:pt x="1557724" y="135802"/>
                </a:cubicBezTo>
                <a:cubicBezTo>
                  <a:pt x="1547888" y="127605"/>
                  <a:pt x="1541217" y="115743"/>
                  <a:pt x="1530564" y="108641"/>
                </a:cubicBezTo>
                <a:cubicBezTo>
                  <a:pt x="1522269" y="103111"/>
                  <a:pt x="1472673" y="92179"/>
                  <a:pt x="1467190" y="90534"/>
                </a:cubicBezTo>
                <a:cubicBezTo>
                  <a:pt x="1439768" y="82307"/>
                  <a:pt x="1412869" y="72428"/>
                  <a:pt x="1385708" y="63374"/>
                </a:cubicBezTo>
                <a:cubicBezTo>
                  <a:pt x="1376655" y="60356"/>
                  <a:pt x="1367806" y="56635"/>
                  <a:pt x="1358548" y="54320"/>
                </a:cubicBezTo>
                <a:cubicBezTo>
                  <a:pt x="1334405" y="48284"/>
                  <a:pt x="1310853" y="38961"/>
                  <a:pt x="1286120" y="36213"/>
                </a:cubicBezTo>
                <a:cubicBezTo>
                  <a:pt x="1258960" y="33195"/>
                  <a:pt x="1231632" y="31422"/>
                  <a:pt x="1204639" y="27160"/>
                </a:cubicBezTo>
                <a:cubicBezTo>
                  <a:pt x="1174240" y="22360"/>
                  <a:pt x="1144774" y="11609"/>
                  <a:pt x="1114105" y="9053"/>
                </a:cubicBezTo>
                <a:lnTo>
                  <a:pt x="1005463" y="0"/>
                </a:lnTo>
                <a:cubicBezTo>
                  <a:pt x="887768" y="3018"/>
                  <a:pt x="769909" y="2140"/>
                  <a:pt x="652378" y="9053"/>
                </a:cubicBezTo>
                <a:cubicBezTo>
                  <a:pt x="399283" y="23941"/>
                  <a:pt x="613667" y="16795"/>
                  <a:pt x="516576" y="36213"/>
                </a:cubicBezTo>
                <a:cubicBezTo>
                  <a:pt x="480575" y="43413"/>
                  <a:pt x="441130" y="58847"/>
                  <a:pt x="426041" y="63374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101600">
              <a:schemeClr val="tx1">
                <a:lumMod val="50000"/>
                <a:lumOff val="5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23563" y="2096336"/>
                <a:ext cx="7514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563" y="2096336"/>
                <a:ext cx="751424" cy="3077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27483" y="2918673"/>
                <a:ext cx="7514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483" y="2918673"/>
                <a:ext cx="751424" cy="3077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35892" y="2714235"/>
                <a:ext cx="7555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892" y="2714235"/>
                <a:ext cx="755591" cy="3077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34908" y="3594093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Phase-field (P-F)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02892" y="1725124"/>
            <a:ext cx="27051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943233" y="3575695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Mumford-Shah (M-S)</a:t>
            </a:r>
            <a:endParaRPr lang="en-US" dirty="0"/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6341396" y="1725125"/>
            <a:ext cx="1766596" cy="967849"/>
          </a:xfrm>
          <a:prstGeom prst="curvedConnector3">
            <a:avLst/>
          </a:prstGeom>
          <a:ln w="25400">
            <a:solidFill>
              <a:schemeClr val="bg2"/>
            </a:solidFill>
          </a:ln>
          <a:effectLst>
            <a:glow rad="63500">
              <a:schemeClr val="bg2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 rot="10800000" flipV="1">
            <a:off x="5402892" y="2164237"/>
            <a:ext cx="1776704" cy="561395"/>
          </a:xfrm>
          <a:prstGeom prst="curvedConnector3">
            <a:avLst/>
          </a:prstGeom>
          <a:ln w="25400">
            <a:solidFill>
              <a:schemeClr val="bg2"/>
            </a:solidFill>
          </a:ln>
          <a:effectLst>
            <a:glow rad="63500">
              <a:schemeClr val="bg2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10800000" flipV="1">
            <a:off x="5425248" y="2604969"/>
            <a:ext cx="2135349" cy="533114"/>
          </a:xfrm>
          <a:prstGeom prst="curvedConnector3">
            <a:avLst/>
          </a:prstGeom>
          <a:ln w="25400">
            <a:solidFill>
              <a:schemeClr val="bg2"/>
            </a:solidFill>
          </a:ln>
          <a:effectLst>
            <a:glow rad="63500">
              <a:schemeClr val="bg2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rot="10800000" flipV="1">
            <a:off x="6469596" y="2661566"/>
            <a:ext cx="1319600" cy="877378"/>
          </a:xfrm>
          <a:prstGeom prst="curvedConnector3">
            <a:avLst/>
          </a:prstGeom>
          <a:ln w="25400">
            <a:solidFill>
              <a:schemeClr val="bg2"/>
            </a:solidFill>
          </a:ln>
          <a:effectLst>
            <a:glow rad="63500">
              <a:schemeClr val="bg2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831175" y="1985122"/>
                <a:ext cx="1458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175" y="1985122"/>
                <a:ext cx="145873" cy="215444"/>
              </a:xfrm>
              <a:prstGeom prst="rect">
                <a:avLst/>
              </a:prstGeom>
              <a:blipFill rotWithShape="0">
                <a:blip r:embed="rId5"/>
                <a:stretch>
                  <a:fillRect l="-25000" r="-25000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2816405" y="1860926"/>
            <a:ext cx="949777" cy="1433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7233387" y="2124840"/>
            <a:ext cx="1578592" cy="449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697311" y="1980381"/>
                <a:ext cx="4114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311" y="1980381"/>
                <a:ext cx="411459" cy="184666"/>
              </a:xfrm>
              <a:prstGeom prst="rect">
                <a:avLst/>
              </a:prstGeom>
              <a:blipFill rotWithShape="0">
                <a:blip r:embed="rId6"/>
                <a:stretch>
                  <a:fillRect l="-8955" t="-3333" r="-1194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492922" y="2422772"/>
                <a:ext cx="41504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22" y="2422772"/>
                <a:ext cx="415049" cy="184666"/>
              </a:xfrm>
              <a:prstGeom prst="rect">
                <a:avLst/>
              </a:prstGeom>
              <a:blipFill rotWithShape="0">
                <a:blip r:embed="rId7"/>
                <a:stretch>
                  <a:fillRect l="-7353" r="-13235" b="-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560597" y="1865077"/>
                <a:ext cx="41504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597" y="1865077"/>
                <a:ext cx="415049" cy="184666"/>
              </a:xfrm>
              <a:prstGeom prst="rect">
                <a:avLst/>
              </a:prstGeom>
              <a:blipFill rotWithShape="0">
                <a:blip r:embed="rId8"/>
                <a:stretch>
                  <a:fillRect l="-7353" t="-3333" r="-13235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341395" y="3159855"/>
                <a:ext cx="41504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395" y="3159855"/>
                <a:ext cx="415049" cy="184666"/>
              </a:xfrm>
              <a:prstGeom prst="rect">
                <a:avLst/>
              </a:prstGeom>
              <a:blipFill rotWithShape="0">
                <a:blip r:embed="rId9"/>
                <a:stretch>
                  <a:fillRect l="-7353" r="-13235" b="-38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48228" y="2878321"/>
                <a:ext cx="41504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228" y="2878321"/>
                <a:ext cx="415049" cy="184666"/>
              </a:xfrm>
              <a:prstGeom prst="rect">
                <a:avLst/>
              </a:prstGeom>
              <a:blipFill rotWithShape="0">
                <a:blip r:embed="rId10"/>
                <a:stretch>
                  <a:fillRect l="-8824" r="-11765" b="-4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621971" y="4254732"/>
                <a:ext cx="4572000" cy="21212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Γ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Measurements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𝜅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𝑀𝑆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κ</m:t>
                              </m:r>
                              <m:r>
                                <a:rPr lang="en-US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Γ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𝑀𝑆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κ</m:t>
                          </m:r>
                          <m:r>
                            <a:rPr lang="en-US">
                              <a:latin typeface="Cambria Math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Γ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Ω</m:t>
                          </m:r>
                          <m:r>
                            <a:rPr lang="en-US">
                              <a:latin typeface="Cambria Math"/>
                            </a:rPr>
                            <m:t>\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Γ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>
                                      <a:latin typeface="Cambria Math"/>
                                    </a:rPr>
                                    <m:t>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κ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dx</m:t>
                          </m:r>
                        </m:e>
                      </m:nary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Γ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ds</m:t>
                          </m:r>
                        </m:e>
                      </m:nary>
                      <m:r>
                        <a:rPr lang="en-US" i="1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971" y="4254732"/>
                <a:ext cx="4572000" cy="212128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0480" y="4328142"/>
                <a:ext cx="4572000" cy="122835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Γ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Measurements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𝜅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Γ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ds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" y="4328142"/>
                <a:ext cx="4572000" cy="122835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872387" y="1704237"/>
                <a:ext cx="1458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387" y="1704237"/>
                <a:ext cx="145873" cy="215444"/>
              </a:xfrm>
              <a:prstGeom prst="rect">
                <a:avLst/>
              </a:prstGeom>
              <a:blipFill rotWithShape="0">
                <a:blip r:embed="rId5"/>
                <a:stretch>
                  <a:fillRect l="-25000" r="-25000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/>
          <p:cNvSpPr/>
          <p:nvPr/>
        </p:nvSpPr>
        <p:spPr>
          <a:xfrm>
            <a:off x="121920" y="1430739"/>
            <a:ext cx="4389120" cy="491045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4632960" y="1438503"/>
            <a:ext cx="4389120" cy="491045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6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7" grpId="0"/>
      <p:bldP spid="21" grpId="0"/>
      <p:bldP spid="22" grpId="0"/>
      <p:bldP spid="23" grpId="0"/>
      <p:bldP spid="24" grpId="0"/>
      <p:bldP spid="25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Phase-field inversion represents a diffuse interface discretization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100" y="4191410"/>
                <a:ext cx="9105900" cy="9907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𝜙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)≔ 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Data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Misfit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𝜖</m:t>
                          </m:r>
                          <m:nary>
                            <m:naryPr>
                              <m:limLoc m:val="undOvr"/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4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ubsurface</m:t>
                              </m:r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>
                                          <a:latin typeface="Cambria Math"/>
                                        </a:rPr>
                                        <m:t>𝛻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𝜙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dx</m:t>
                              </m:r>
                            </m:e>
                          </m:nary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4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ubsurface</m:t>
                              </m:r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𝜙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" y="4191410"/>
                <a:ext cx="9105900" cy="9907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29919" y="6019267"/>
                <a:ext cx="1426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919" y="6019267"/>
                <a:ext cx="1426865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>
            <a:off x="2995357" y="4817145"/>
            <a:ext cx="1134478" cy="1202122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8600" y="4043647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Inversion formulation: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275411" y="5364347"/>
                <a:ext cx="1294264" cy="8576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1⋅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411" y="5364347"/>
                <a:ext cx="1294264" cy="8576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eft Brace 26"/>
          <p:cNvSpPr/>
          <p:nvPr/>
        </p:nvSpPr>
        <p:spPr>
          <a:xfrm rot="-5400000">
            <a:off x="6240881" y="2846870"/>
            <a:ext cx="288083" cy="4983484"/>
          </a:xfrm>
          <a:prstGeom prst="leftBrace">
            <a:avLst/>
          </a:prstGeom>
          <a:ln w="57150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911012" y="4831515"/>
            <a:ext cx="24911" cy="957901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144" y="5696101"/>
            <a:ext cx="18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Optimization by </a:t>
            </a:r>
          </a:p>
          <a:p>
            <a:r>
              <a:rPr lang="en-US" dirty="0" smtClean="0"/>
              <a:t>Gauss-Newton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800" y="1403253"/>
            <a:ext cx="3962400" cy="262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623707" y="1420343"/>
                <a:ext cx="1837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707" y="1420343"/>
                <a:ext cx="1837554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49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5" grpId="0"/>
      <p:bldP spid="26" grpId="0"/>
      <p:bldP spid="27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Mumford-Shah is discretized using the </a:t>
            </a:r>
            <a:r>
              <a:rPr lang="en-US" dirty="0" err="1" smtClean="0"/>
              <a:t>Ambrosio-Tortorelli</a:t>
            </a:r>
            <a:r>
              <a:rPr lang="en-US" dirty="0" smtClean="0"/>
              <a:t> approximation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18107" y="190816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Geometric problem: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133600" y="1621941"/>
                <a:ext cx="5564857" cy="985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Γ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𝜅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)−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𝑑𝑥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  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𝛼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Ω</m:t>
                                  </m:r>
                                  <m:r>
                                    <a:rPr lang="en-US">
                                      <a:latin typeface="Cambria Math"/>
                                    </a:rPr>
                                    <m:t>\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Γ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>
                                              <a:latin typeface="Cambria Math"/>
                                            </a:rPr>
                                            <m:t>𝛻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/>
                                            </a:rPr>
                                            <m:t>κ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/>
                                    </a:rPr>
                                    <m:t>𝑑𝑥</m:t>
                                  </m:r>
                                </m:e>
                              </m:nary>
                              <m:r>
                                <a:rPr lang="en-US" i="1">
                                  <a:latin typeface="Cambria Math"/>
                                </a:rPr>
                                <m:t>   +  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𝛽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Γ</m:t>
                                  </m:r>
                                </m:sub>
                                <m:sup/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𝑑𝑠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.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1621941"/>
                <a:ext cx="5564857" cy="98527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074574" y="2597203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Data misfit</a:t>
            </a:r>
            <a:endParaRPr lang="en-US" sz="1400" dirty="0"/>
          </a:p>
        </p:txBody>
      </p:sp>
      <p:sp>
        <p:nvSpPr>
          <p:cNvPr id="7" name="Right Brace 6"/>
          <p:cNvSpPr/>
          <p:nvPr/>
        </p:nvSpPr>
        <p:spPr>
          <a:xfrm rot="5400000">
            <a:off x="3600330" y="1794095"/>
            <a:ext cx="236518" cy="1341178"/>
          </a:xfrm>
          <a:prstGeom prst="rightBrace">
            <a:avLst>
              <a:gd name="adj1" fmla="val 8333"/>
              <a:gd name="adj2" fmla="val 57529"/>
            </a:avLst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18769" y="2646245"/>
            <a:ext cx="2341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Smoothness within </a:t>
            </a:r>
          </a:p>
          <a:p>
            <a:pPr algn="ctr"/>
            <a:r>
              <a:rPr lang="en-US" sz="1400" dirty="0" smtClean="0"/>
              <a:t>region</a:t>
            </a:r>
            <a:endParaRPr lang="en-US" sz="1400" dirty="0"/>
          </a:p>
        </p:txBody>
      </p:sp>
      <p:sp>
        <p:nvSpPr>
          <p:cNvPr id="11" name="Right Brace 10"/>
          <p:cNvSpPr/>
          <p:nvPr/>
        </p:nvSpPr>
        <p:spPr>
          <a:xfrm rot="5400000">
            <a:off x="5591154" y="1851423"/>
            <a:ext cx="236518" cy="1463040"/>
          </a:xfrm>
          <a:prstGeom prst="rightBrace">
            <a:avLst>
              <a:gd name="adj1" fmla="val 8333"/>
              <a:gd name="adj2" fmla="val 77606"/>
            </a:avLst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688398" y="2694098"/>
            <a:ext cx="14879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Boundary length</a:t>
            </a:r>
            <a:endParaRPr lang="en-US" sz="1400" dirty="0"/>
          </a:p>
        </p:txBody>
      </p:sp>
      <p:sp>
        <p:nvSpPr>
          <p:cNvPr id="13" name="Right Brace 12"/>
          <p:cNvSpPr/>
          <p:nvPr/>
        </p:nvSpPr>
        <p:spPr>
          <a:xfrm rot="5400000">
            <a:off x="7241708" y="2048563"/>
            <a:ext cx="236518" cy="1097280"/>
          </a:xfrm>
          <a:prstGeom prst="rightBrace">
            <a:avLst>
              <a:gd name="adj1" fmla="val 8333"/>
              <a:gd name="adj2" fmla="val 37730"/>
            </a:avLst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-18107" y="4655659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Discretized problem: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87324" y="4795857"/>
                <a:ext cx="7647927" cy="949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/>
                                </a:rPr>
                                <m:t>𝜅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</a:rPr>
                                <m:t>M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𝑢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𝜅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)−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</a:rPr>
                                <m:t>𝑑𝑥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  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𝛼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Ω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𝜙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>
                                              <a:latin typeface="Cambria Math"/>
                                            </a:rPr>
                                            <m:t>𝛻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𝜅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𝑑𝑥</m:t>
                                  </m:r>
                                </m:e>
                              </m:nary>
                              <m:r>
                                <a:rPr lang="en-US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𝛽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/>
                                    </a:rPr>
                                    <m:t>Ω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𝜖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>
                                                  <a:latin typeface="Cambria Math"/>
                                                </a:rPr>
                                                <m:t>𝛻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𝜙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−1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𝜖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𝑑𝑥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24" y="4795857"/>
                <a:ext cx="7647927" cy="9498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5948725" y="5531686"/>
            <a:ext cx="299675" cy="613124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70210" y="6133594"/>
                <a:ext cx="7925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210" y="6133594"/>
                <a:ext cx="792525" cy="30777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H="1" flipV="1">
            <a:off x="1371600" y="5623456"/>
            <a:ext cx="304800" cy="556858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6110" y="6169223"/>
            <a:ext cx="2653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Optimization by Gauss-Newton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3352800" y="3224087"/>
            <a:ext cx="2667000" cy="1474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4218770" y="3417300"/>
            <a:ext cx="1420030" cy="1077884"/>
          </a:xfrm>
          <a:custGeom>
            <a:avLst/>
            <a:gdLst>
              <a:gd name="connsiteX0" fmla="*/ 809598 w 1365725"/>
              <a:gd name="connsiteY0" fmla="*/ 89073 h 1083520"/>
              <a:gd name="connsiteX1" fmla="*/ 1319961 w 1365725"/>
              <a:gd name="connsiteY1" fmla="*/ 865250 h 1083520"/>
              <a:gd name="connsiteX2" fmla="*/ 1341226 w 1365725"/>
              <a:gd name="connsiteY2" fmla="*/ 854617 h 1083520"/>
              <a:gd name="connsiteX3" fmla="*/ 416193 w 1365725"/>
              <a:gd name="connsiteY3" fmla="*/ 1067269 h 1083520"/>
              <a:gd name="connsiteX4" fmla="*/ 628845 w 1365725"/>
              <a:gd name="connsiteY4" fmla="*/ 354887 h 1083520"/>
              <a:gd name="connsiteX5" fmla="*/ 1524 w 1365725"/>
              <a:gd name="connsiteY5" fmla="*/ 46543 h 1083520"/>
              <a:gd name="connsiteX6" fmla="*/ 809598 w 1365725"/>
              <a:gd name="connsiteY6" fmla="*/ 89073 h 1083520"/>
              <a:gd name="connsiteX0" fmla="*/ 813750 w 1369877"/>
              <a:gd name="connsiteY0" fmla="*/ 99188 h 1086149"/>
              <a:gd name="connsiteX1" fmla="*/ 1324113 w 1369877"/>
              <a:gd name="connsiteY1" fmla="*/ 875365 h 1086149"/>
              <a:gd name="connsiteX2" fmla="*/ 1345378 w 1369877"/>
              <a:gd name="connsiteY2" fmla="*/ 864732 h 1086149"/>
              <a:gd name="connsiteX3" fmla="*/ 420345 w 1369877"/>
              <a:gd name="connsiteY3" fmla="*/ 1077384 h 1086149"/>
              <a:gd name="connsiteX4" fmla="*/ 452244 w 1369877"/>
              <a:gd name="connsiteY4" fmla="*/ 524490 h 1086149"/>
              <a:gd name="connsiteX5" fmla="*/ 5676 w 1369877"/>
              <a:gd name="connsiteY5" fmla="*/ 56658 h 1086149"/>
              <a:gd name="connsiteX6" fmla="*/ 813750 w 1369877"/>
              <a:gd name="connsiteY6" fmla="*/ 99188 h 1086149"/>
              <a:gd name="connsiteX0" fmla="*/ 813750 w 1329233"/>
              <a:gd name="connsiteY0" fmla="*/ 99188 h 1078192"/>
              <a:gd name="connsiteX1" fmla="*/ 1324113 w 1329233"/>
              <a:gd name="connsiteY1" fmla="*/ 875365 h 1078192"/>
              <a:gd name="connsiteX2" fmla="*/ 1090197 w 1329233"/>
              <a:gd name="connsiteY2" fmla="*/ 396899 h 1078192"/>
              <a:gd name="connsiteX3" fmla="*/ 420345 w 1329233"/>
              <a:gd name="connsiteY3" fmla="*/ 1077384 h 1078192"/>
              <a:gd name="connsiteX4" fmla="*/ 452244 w 1329233"/>
              <a:gd name="connsiteY4" fmla="*/ 524490 h 1078192"/>
              <a:gd name="connsiteX5" fmla="*/ 5676 w 1329233"/>
              <a:gd name="connsiteY5" fmla="*/ 56658 h 1078192"/>
              <a:gd name="connsiteX6" fmla="*/ 813750 w 1329233"/>
              <a:gd name="connsiteY6" fmla="*/ 99188 h 1078192"/>
              <a:gd name="connsiteX0" fmla="*/ 813750 w 1329233"/>
              <a:gd name="connsiteY0" fmla="*/ 99188 h 1078192"/>
              <a:gd name="connsiteX1" fmla="*/ 1324113 w 1329233"/>
              <a:gd name="connsiteY1" fmla="*/ 875365 h 1078192"/>
              <a:gd name="connsiteX2" fmla="*/ 1090197 w 1329233"/>
              <a:gd name="connsiteY2" fmla="*/ 396899 h 1078192"/>
              <a:gd name="connsiteX3" fmla="*/ 420345 w 1329233"/>
              <a:gd name="connsiteY3" fmla="*/ 1077384 h 1078192"/>
              <a:gd name="connsiteX4" fmla="*/ 452244 w 1329233"/>
              <a:gd name="connsiteY4" fmla="*/ 524490 h 1078192"/>
              <a:gd name="connsiteX5" fmla="*/ 5676 w 1329233"/>
              <a:gd name="connsiteY5" fmla="*/ 56658 h 1078192"/>
              <a:gd name="connsiteX6" fmla="*/ 813750 w 1329233"/>
              <a:gd name="connsiteY6" fmla="*/ 99188 h 1078192"/>
              <a:gd name="connsiteX0" fmla="*/ 813750 w 1329630"/>
              <a:gd name="connsiteY0" fmla="*/ 99188 h 1222912"/>
              <a:gd name="connsiteX1" fmla="*/ 1324113 w 1329630"/>
              <a:gd name="connsiteY1" fmla="*/ 875365 h 1222912"/>
              <a:gd name="connsiteX2" fmla="*/ 1090197 w 1329630"/>
              <a:gd name="connsiteY2" fmla="*/ 396899 h 1222912"/>
              <a:gd name="connsiteX3" fmla="*/ 1185890 w 1329630"/>
              <a:gd name="connsiteY3" fmla="*/ 1173078 h 1222912"/>
              <a:gd name="connsiteX4" fmla="*/ 420345 w 1329630"/>
              <a:gd name="connsiteY4" fmla="*/ 1077384 h 1222912"/>
              <a:gd name="connsiteX5" fmla="*/ 452244 w 1329630"/>
              <a:gd name="connsiteY5" fmla="*/ 524490 h 1222912"/>
              <a:gd name="connsiteX6" fmla="*/ 5676 w 1329630"/>
              <a:gd name="connsiteY6" fmla="*/ 56658 h 1222912"/>
              <a:gd name="connsiteX7" fmla="*/ 813750 w 1329630"/>
              <a:gd name="connsiteY7" fmla="*/ 99188 h 1222912"/>
              <a:gd name="connsiteX0" fmla="*/ 813750 w 1403079"/>
              <a:gd name="connsiteY0" fmla="*/ 99188 h 1222912"/>
              <a:gd name="connsiteX1" fmla="*/ 1324113 w 1403079"/>
              <a:gd name="connsiteY1" fmla="*/ 875365 h 1222912"/>
              <a:gd name="connsiteX2" fmla="*/ 1387908 w 1403079"/>
              <a:gd name="connsiteY2" fmla="*/ 1045485 h 1222912"/>
              <a:gd name="connsiteX3" fmla="*/ 1185890 w 1403079"/>
              <a:gd name="connsiteY3" fmla="*/ 1173078 h 1222912"/>
              <a:gd name="connsiteX4" fmla="*/ 420345 w 1403079"/>
              <a:gd name="connsiteY4" fmla="*/ 1077384 h 1222912"/>
              <a:gd name="connsiteX5" fmla="*/ 452244 w 1403079"/>
              <a:gd name="connsiteY5" fmla="*/ 524490 h 1222912"/>
              <a:gd name="connsiteX6" fmla="*/ 5676 w 1403079"/>
              <a:gd name="connsiteY6" fmla="*/ 56658 h 1222912"/>
              <a:gd name="connsiteX7" fmla="*/ 813750 w 1403079"/>
              <a:gd name="connsiteY7" fmla="*/ 99188 h 1222912"/>
              <a:gd name="connsiteX0" fmla="*/ 813750 w 1424240"/>
              <a:gd name="connsiteY0" fmla="*/ 99188 h 1231525"/>
              <a:gd name="connsiteX1" fmla="*/ 1324113 w 1424240"/>
              <a:gd name="connsiteY1" fmla="*/ 875365 h 1231525"/>
              <a:gd name="connsiteX2" fmla="*/ 1387908 w 1424240"/>
              <a:gd name="connsiteY2" fmla="*/ 1045485 h 1231525"/>
              <a:gd name="connsiteX3" fmla="*/ 898810 w 1424240"/>
              <a:gd name="connsiteY3" fmla="*/ 1183710 h 1231525"/>
              <a:gd name="connsiteX4" fmla="*/ 420345 w 1424240"/>
              <a:gd name="connsiteY4" fmla="*/ 1077384 h 1231525"/>
              <a:gd name="connsiteX5" fmla="*/ 452244 w 1424240"/>
              <a:gd name="connsiteY5" fmla="*/ 524490 h 1231525"/>
              <a:gd name="connsiteX6" fmla="*/ 5676 w 1424240"/>
              <a:gd name="connsiteY6" fmla="*/ 56658 h 1231525"/>
              <a:gd name="connsiteX7" fmla="*/ 813750 w 1424240"/>
              <a:gd name="connsiteY7" fmla="*/ 99188 h 1231525"/>
              <a:gd name="connsiteX0" fmla="*/ 813750 w 1353530"/>
              <a:gd name="connsiteY0" fmla="*/ 99188 h 1231525"/>
              <a:gd name="connsiteX1" fmla="*/ 1324113 w 1353530"/>
              <a:gd name="connsiteY1" fmla="*/ 875365 h 1231525"/>
              <a:gd name="connsiteX2" fmla="*/ 1249684 w 1353530"/>
              <a:gd name="connsiteY2" fmla="*/ 1045485 h 1231525"/>
              <a:gd name="connsiteX3" fmla="*/ 898810 w 1353530"/>
              <a:gd name="connsiteY3" fmla="*/ 1183710 h 1231525"/>
              <a:gd name="connsiteX4" fmla="*/ 420345 w 1353530"/>
              <a:gd name="connsiteY4" fmla="*/ 1077384 h 1231525"/>
              <a:gd name="connsiteX5" fmla="*/ 452244 w 1353530"/>
              <a:gd name="connsiteY5" fmla="*/ 524490 h 1231525"/>
              <a:gd name="connsiteX6" fmla="*/ 5676 w 1353530"/>
              <a:gd name="connsiteY6" fmla="*/ 56658 h 1231525"/>
              <a:gd name="connsiteX7" fmla="*/ 813750 w 1353530"/>
              <a:gd name="connsiteY7" fmla="*/ 99188 h 1231525"/>
              <a:gd name="connsiteX0" fmla="*/ 813750 w 1360289"/>
              <a:gd name="connsiteY0" fmla="*/ 99188 h 1231525"/>
              <a:gd name="connsiteX1" fmla="*/ 1324113 w 1360289"/>
              <a:gd name="connsiteY1" fmla="*/ 875365 h 1231525"/>
              <a:gd name="connsiteX2" fmla="*/ 1249684 w 1360289"/>
              <a:gd name="connsiteY2" fmla="*/ 1045485 h 1231525"/>
              <a:gd name="connsiteX3" fmla="*/ 898810 w 1360289"/>
              <a:gd name="connsiteY3" fmla="*/ 1183710 h 1231525"/>
              <a:gd name="connsiteX4" fmla="*/ 420345 w 1360289"/>
              <a:gd name="connsiteY4" fmla="*/ 1077384 h 1231525"/>
              <a:gd name="connsiteX5" fmla="*/ 452244 w 1360289"/>
              <a:gd name="connsiteY5" fmla="*/ 524490 h 1231525"/>
              <a:gd name="connsiteX6" fmla="*/ 5676 w 1360289"/>
              <a:gd name="connsiteY6" fmla="*/ 56658 h 1231525"/>
              <a:gd name="connsiteX7" fmla="*/ 813750 w 1360289"/>
              <a:gd name="connsiteY7" fmla="*/ 99188 h 1231525"/>
              <a:gd name="connsiteX0" fmla="*/ 813750 w 1259093"/>
              <a:gd name="connsiteY0" fmla="*/ 79481 h 1211818"/>
              <a:gd name="connsiteX1" fmla="*/ 1128850 w 1259093"/>
              <a:gd name="connsiteY1" fmla="*/ 474658 h 1211818"/>
              <a:gd name="connsiteX2" fmla="*/ 1249684 w 1259093"/>
              <a:gd name="connsiteY2" fmla="*/ 1025778 h 1211818"/>
              <a:gd name="connsiteX3" fmla="*/ 898810 w 1259093"/>
              <a:gd name="connsiteY3" fmla="*/ 1164003 h 1211818"/>
              <a:gd name="connsiteX4" fmla="*/ 420345 w 1259093"/>
              <a:gd name="connsiteY4" fmla="*/ 1057677 h 1211818"/>
              <a:gd name="connsiteX5" fmla="*/ 452244 w 1259093"/>
              <a:gd name="connsiteY5" fmla="*/ 504783 h 1211818"/>
              <a:gd name="connsiteX6" fmla="*/ 5676 w 1259093"/>
              <a:gd name="connsiteY6" fmla="*/ 36951 h 1211818"/>
              <a:gd name="connsiteX7" fmla="*/ 813750 w 1259093"/>
              <a:gd name="connsiteY7" fmla="*/ 79481 h 1211818"/>
              <a:gd name="connsiteX0" fmla="*/ 799638 w 1244981"/>
              <a:gd name="connsiteY0" fmla="*/ 38779 h 1171116"/>
              <a:gd name="connsiteX1" fmla="*/ 1114738 w 1244981"/>
              <a:gd name="connsiteY1" fmla="*/ 433956 h 1171116"/>
              <a:gd name="connsiteX2" fmla="*/ 1235572 w 1244981"/>
              <a:gd name="connsiteY2" fmla="*/ 985076 h 1171116"/>
              <a:gd name="connsiteX3" fmla="*/ 884698 w 1244981"/>
              <a:gd name="connsiteY3" fmla="*/ 1123301 h 1171116"/>
              <a:gd name="connsiteX4" fmla="*/ 406233 w 1244981"/>
              <a:gd name="connsiteY4" fmla="*/ 1016975 h 1171116"/>
              <a:gd name="connsiteX5" fmla="*/ 438132 w 1244981"/>
              <a:gd name="connsiteY5" fmla="*/ 464081 h 1171116"/>
              <a:gd name="connsiteX6" fmla="*/ 5851 w 1244981"/>
              <a:gd name="connsiteY6" fmla="*/ 62924 h 1171116"/>
              <a:gd name="connsiteX7" fmla="*/ 799638 w 1244981"/>
              <a:gd name="connsiteY7" fmla="*/ 38779 h 1171116"/>
              <a:gd name="connsiteX0" fmla="*/ 794365 w 1239708"/>
              <a:gd name="connsiteY0" fmla="*/ 46771 h 1179108"/>
              <a:gd name="connsiteX1" fmla="*/ 1109465 w 1239708"/>
              <a:gd name="connsiteY1" fmla="*/ 441948 h 1179108"/>
              <a:gd name="connsiteX2" fmla="*/ 1230299 w 1239708"/>
              <a:gd name="connsiteY2" fmla="*/ 993068 h 1179108"/>
              <a:gd name="connsiteX3" fmla="*/ 879425 w 1239708"/>
              <a:gd name="connsiteY3" fmla="*/ 1131293 h 1179108"/>
              <a:gd name="connsiteX4" fmla="*/ 400960 w 1239708"/>
              <a:gd name="connsiteY4" fmla="*/ 1024967 h 1179108"/>
              <a:gd name="connsiteX5" fmla="*/ 432859 w 1239708"/>
              <a:gd name="connsiteY5" fmla="*/ 472073 h 1179108"/>
              <a:gd name="connsiteX6" fmla="*/ 578 w 1239708"/>
              <a:gd name="connsiteY6" fmla="*/ 70916 h 1179108"/>
              <a:gd name="connsiteX7" fmla="*/ 794365 w 1239708"/>
              <a:gd name="connsiteY7" fmla="*/ 46771 h 1179108"/>
              <a:gd name="connsiteX0" fmla="*/ 794365 w 1237801"/>
              <a:gd name="connsiteY0" fmla="*/ 46771 h 1227565"/>
              <a:gd name="connsiteX1" fmla="*/ 1109465 w 1237801"/>
              <a:gd name="connsiteY1" fmla="*/ 441948 h 1227565"/>
              <a:gd name="connsiteX2" fmla="*/ 1230299 w 1237801"/>
              <a:gd name="connsiteY2" fmla="*/ 993068 h 1227565"/>
              <a:gd name="connsiteX3" fmla="*/ 912763 w 1237801"/>
              <a:gd name="connsiteY3" fmla="*/ 1188443 h 1227565"/>
              <a:gd name="connsiteX4" fmla="*/ 400960 w 1237801"/>
              <a:gd name="connsiteY4" fmla="*/ 1024967 h 1227565"/>
              <a:gd name="connsiteX5" fmla="*/ 432859 w 1237801"/>
              <a:gd name="connsiteY5" fmla="*/ 472073 h 1227565"/>
              <a:gd name="connsiteX6" fmla="*/ 578 w 1237801"/>
              <a:gd name="connsiteY6" fmla="*/ 70916 h 1227565"/>
              <a:gd name="connsiteX7" fmla="*/ 794365 w 1237801"/>
              <a:gd name="connsiteY7" fmla="*/ 46771 h 1227565"/>
              <a:gd name="connsiteX0" fmla="*/ 794365 w 1237801"/>
              <a:gd name="connsiteY0" fmla="*/ 46771 h 1218242"/>
              <a:gd name="connsiteX1" fmla="*/ 1109465 w 1237801"/>
              <a:gd name="connsiteY1" fmla="*/ 441948 h 1218242"/>
              <a:gd name="connsiteX2" fmla="*/ 1230299 w 1237801"/>
              <a:gd name="connsiteY2" fmla="*/ 993068 h 1218242"/>
              <a:gd name="connsiteX3" fmla="*/ 912763 w 1237801"/>
              <a:gd name="connsiteY3" fmla="*/ 1188443 h 1218242"/>
              <a:gd name="connsiteX4" fmla="*/ 262848 w 1237801"/>
              <a:gd name="connsiteY4" fmla="*/ 944005 h 1218242"/>
              <a:gd name="connsiteX5" fmla="*/ 432859 w 1237801"/>
              <a:gd name="connsiteY5" fmla="*/ 472073 h 1218242"/>
              <a:gd name="connsiteX6" fmla="*/ 578 w 1237801"/>
              <a:gd name="connsiteY6" fmla="*/ 70916 h 1218242"/>
              <a:gd name="connsiteX7" fmla="*/ 794365 w 1237801"/>
              <a:gd name="connsiteY7" fmla="*/ 46771 h 1218242"/>
              <a:gd name="connsiteX0" fmla="*/ 794365 w 1237801"/>
              <a:gd name="connsiteY0" fmla="*/ 46771 h 1220778"/>
              <a:gd name="connsiteX1" fmla="*/ 1109465 w 1237801"/>
              <a:gd name="connsiteY1" fmla="*/ 441948 h 1220778"/>
              <a:gd name="connsiteX2" fmla="*/ 1230299 w 1237801"/>
              <a:gd name="connsiteY2" fmla="*/ 993068 h 1220778"/>
              <a:gd name="connsiteX3" fmla="*/ 912763 w 1237801"/>
              <a:gd name="connsiteY3" fmla="*/ 1188443 h 1220778"/>
              <a:gd name="connsiteX4" fmla="*/ 262848 w 1237801"/>
              <a:gd name="connsiteY4" fmla="*/ 944005 h 1220778"/>
              <a:gd name="connsiteX5" fmla="*/ 432859 w 1237801"/>
              <a:gd name="connsiteY5" fmla="*/ 472073 h 1220778"/>
              <a:gd name="connsiteX6" fmla="*/ 578 w 1237801"/>
              <a:gd name="connsiteY6" fmla="*/ 70916 h 1220778"/>
              <a:gd name="connsiteX7" fmla="*/ 794365 w 1237801"/>
              <a:gd name="connsiteY7" fmla="*/ 46771 h 1220778"/>
              <a:gd name="connsiteX0" fmla="*/ 814169 w 1257605"/>
              <a:gd name="connsiteY0" fmla="*/ 40218 h 1211319"/>
              <a:gd name="connsiteX1" fmla="*/ 1129269 w 1257605"/>
              <a:gd name="connsiteY1" fmla="*/ 435395 h 1211319"/>
              <a:gd name="connsiteX2" fmla="*/ 1250103 w 1257605"/>
              <a:gd name="connsiteY2" fmla="*/ 986515 h 1211319"/>
              <a:gd name="connsiteX3" fmla="*/ 932567 w 1257605"/>
              <a:gd name="connsiteY3" fmla="*/ 1181890 h 1211319"/>
              <a:gd name="connsiteX4" fmla="*/ 282652 w 1257605"/>
              <a:gd name="connsiteY4" fmla="*/ 937452 h 1211319"/>
              <a:gd name="connsiteX5" fmla="*/ 251800 w 1257605"/>
              <a:gd name="connsiteY5" fmla="*/ 492686 h 1211319"/>
              <a:gd name="connsiteX6" fmla="*/ 20382 w 1257605"/>
              <a:gd name="connsiteY6" fmla="*/ 64363 h 1211319"/>
              <a:gd name="connsiteX7" fmla="*/ 814169 w 1257605"/>
              <a:gd name="connsiteY7" fmla="*/ 40218 h 1211319"/>
              <a:gd name="connsiteX0" fmla="*/ 814169 w 1488838"/>
              <a:gd name="connsiteY0" fmla="*/ 37598 h 1208699"/>
              <a:gd name="connsiteX1" fmla="*/ 1473606 w 1488838"/>
              <a:gd name="connsiteY1" fmla="*/ 394743 h 1208699"/>
              <a:gd name="connsiteX2" fmla="*/ 1250103 w 1488838"/>
              <a:gd name="connsiteY2" fmla="*/ 983895 h 1208699"/>
              <a:gd name="connsiteX3" fmla="*/ 932567 w 1488838"/>
              <a:gd name="connsiteY3" fmla="*/ 1179270 h 1208699"/>
              <a:gd name="connsiteX4" fmla="*/ 282652 w 1488838"/>
              <a:gd name="connsiteY4" fmla="*/ 934832 h 1208699"/>
              <a:gd name="connsiteX5" fmla="*/ 251800 w 1488838"/>
              <a:gd name="connsiteY5" fmla="*/ 490066 h 1208699"/>
              <a:gd name="connsiteX6" fmla="*/ 20382 w 1488838"/>
              <a:gd name="connsiteY6" fmla="*/ 61743 h 1208699"/>
              <a:gd name="connsiteX7" fmla="*/ 814169 w 1488838"/>
              <a:gd name="connsiteY7" fmla="*/ 37598 h 1208699"/>
              <a:gd name="connsiteX0" fmla="*/ 814169 w 1488838"/>
              <a:gd name="connsiteY0" fmla="*/ 37598 h 1208699"/>
              <a:gd name="connsiteX1" fmla="*/ 1473606 w 1488838"/>
              <a:gd name="connsiteY1" fmla="*/ 394743 h 1208699"/>
              <a:gd name="connsiteX2" fmla="*/ 1250103 w 1488838"/>
              <a:gd name="connsiteY2" fmla="*/ 837200 h 1208699"/>
              <a:gd name="connsiteX3" fmla="*/ 932567 w 1488838"/>
              <a:gd name="connsiteY3" fmla="*/ 1179270 h 1208699"/>
              <a:gd name="connsiteX4" fmla="*/ 282652 w 1488838"/>
              <a:gd name="connsiteY4" fmla="*/ 934832 h 1208699"/>
              <a:gd name="connsiteX5" fmla="*/ 251800 w 1488838"/>
              <a:gd name="connsiteY5" fmla="*/ 490066 h 1208699"/>
              <a:gd name="connsiteX6" fmla="*/ 20382 w 1488838"/>
              <a:gd name="connsiteY6" fmla="*/ 61743 h 1208699"/>
              <a:gd name="connsiteX7" fmla="*/ 814169 w 1488838"/>
              <a:gd name="connsiteY7" fmla="*/ 37598 h 1208699"/>
              <a:gd name="connsiteX0" fmla="*/ 814169 w 1484506"/>
              <a:gd name="connsiteY0" fmla="*/ 37598 h 1208699"/>
              <a:gd name="connsiteX1" fmla="*/ 1473606 w 1484506"/>
              <a:gd name="connsiteY1" fmla="*/ 394743 h 1208699"/>
              <a:gd name="connsiteX2" fmla="*/ 1250103 w 1484506"/>
              <a:gd name="connsiteY2" fmla="*/ 837200 h 1208699"/>
              <a:gd name="connsiteX3" fmla="*/ 932567 w 1484506"/>
              <a:gd name="connsiteY3" fmla="*/ 1179270 h 1208699"/>
              <a:gd name="connsiteX4" fmla="*/ 282652 w 1484506"/>
              <a:gd name="connsiteY4" fmla="*/ 934832 h 1208699"/>
              <a:gd name="connsiteX5" fmla="*/ 251800 w 1484506"/>
              <a:gd name="connsiteY5" fmla="*/ 490066 h 1208699"/>
              <a:gd name="connsiteX6" fmla="*/ 20382 w 1484506"/>
              <a:gd name="connsiteY6" fmla="*/ 61743 h 1208699"/>
              <a:gd name="connsiteX7" fmla="*/ 814169 w 1484506"/>
              <a:gd name="connsiteY7" fmla="*/ 37598 h 1208699"/>
              <a:gd name="connsiteX0" fmla="*/ 690759 w 1361096"/>
              <a:gd name="connsiteY0" fmla="*/ 122923 h 1294024"/>
              <a:gd name="connsiteX1" fmla="*/ 1350196 w 1361096"/>
              <a:gd name="connsiteY1" fmla="*/ 480068 h 1294024"/>
              <a:gd name="connsiteX2" fmla="*/ 1126693 w 1361096"/>
              <a:gd name="connsiteY2" fmla="*/ 922525 h 1294024"/>
              <a:gd name="connsiteX3" fmla="*/ 809157 w 1361096"/>
              <a:gd name="connsiteY3" fmla="*/ 1264595 h 1294024"/>
              <a:gd name="connsiteX4" fmla="*/ 159242 w 1361096"/>
              <a:gd name="connsiteY4" fmla="*/ 1020157 h 1294024"/>
              <a:gd name="connsiteX5" fmla="*/ 128390 w 1361096"/>
              <a:gd name="connsiteY5" fmla="*/ 575391 h 1294024"/>
              <a:gd name="connsiteX6" fmla="*/ 34707 w 1361096"/>
              <a:gd name="connsiteY6" fmla="*/ 27539 h 1294024"/>
              <a:gd name="connsiteX7" fmla="*/ 690759 w 1361096"/>
              <a:gd name="connsiteY7" fmla="*/ 122923 h 1294024"/>
              <a:gd name="connsiteX0" fmla="*/ 662574 w 1332911"/>
              <a:gd name="connsiteY0" fmla="*/ 163064 h 1334165"/>
              <a:gd name="connsiteX1" fmla="*/ 1322011 w 1332911"/>
              <a:gd name="connsiteY1" fmla="*/ 520209 h 1334165"/>
              <a:gd name="connsiteX2" fmla="*/ 1098508 w 1332911"/>
              <a:gd name="connsiteY2" fmla="*/ 962666 h 1334165"/>
              <a:gd name="connsiteX3" fmla="*/ 780972 w 1332911"/>
              <a:gd name="connsiteY3" fmla="*/ 1304736 h 1334165"/>
              <a:gd name="connsiteX4" fmla="*/ 131057 w 1332911"/>
              <a:gd name="connsiteY4" fmla="*/ 1060298 h 1334165"/>
              <a:gd name="connsiteX5" fmla="*/ 100205 w 1332911"/>
              <a:gd name="connsiteY5" fmla="*/ 615532 h 1334165"/>
              <a:gd name="connsiteX6" fmla="*/ 6522 w 1332911"/>
              <a:gd name="connsiteY6" fmla="*/ 67680 h 1334165"/>
              <a:gd name="connsiteX7" fmla="*/ 662574 w 1332911"/>
              <a:gd name="connsiteY7" fmla="*/ 163064 h 133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2911" h="1334165">
                <a:moveTo>
                  <a:pt x="662574" y="163064"/>
                </a:moveTo>
                <a:cubicBezTo>
                  <a:pt x="881822" y="238485"/>
                  <a:pt x="1249355" y="386942"/>
                  <a:pt x="1322011" y="520209"/>
                </a:cubicBezTo>
                <a:cubicBezTo>
                  <a:pt x="1394667" y="653476"/>
                  <a:pt x="1079641" y="793880"/>
                  <a:pt x="1098508" y="962666"/>
                </a:cubicBezTo>
                <a:cubicBezTo>
                  <a:pt x="1116153" y="1120515"/>
                  <a:pt x="892614" y="1191322"/>
                  <a:pt x="780972" y="1304736"/>
                </a:cubicBezTo>
                <a:cubicBezTo>
                  <a:pt x="669330" y="1418150"/>
                  <a:pt x="244518" y="1175165"/>
                  <a:pt x="131057" y="1060298"/>
                </a:cubicBezTo>
                <a:cubicBezTo>
                  <a:pt x="17596" y="945431"/>
                  <a:pt x="169317" y="785653"/>
                  <a:pt x="100205" y="615532"/>
                </a:cubicBezTo>
                <a:cubicBezTo>
                  <a:pt x="31093" y="445411"/>
                  <a:pt x="-18338" y="235454"/>
                  <a:pt x="6522" y="67680"/>
                </a:cubicBezTo>
                <a:cubicBezTo>
                  <a:pt x="31382" y="-100094"/>
                  <a:pt x="443326" y="87643"/>
                  <a:pt x="662574" y="163064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  <a:effectLst>
            <a:glow rad="101600">
              <a:schemeClr val="tx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333750" y="3999945"/>
                <a:ext cx="9968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3999945"/>
                <a:ext cx="996876" cy="307777"/>
              </a:xfrm>
              <a:prstGeom prst="rect">
                <a:avLst/>
              </a:prstGeom>
              <a:blipFill rotWithShape="0">
                <a:blip r:embed="rId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477371" y="3917954"/>
                <a:ext cx="100104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71" y="3917954"/>
                <a:ext cx="1001043" cy="307777"/>
              </a:xfrm>
              <a:prstGeom prst="rect">
                <a:avLst/>
              </a:prstGeom>
              <a:blipFill rotWithShape="0"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432197" y="3802353"/>
                <a:ext cx="6922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197" y="3802353"/>
                <a:ext cx="692241" cy="307777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593066" y="3716149"/>
                <a:ext cx="6922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066" y="3716149"/>
                <a:ext cx="692241" cy="307777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H="1" flipV="1">
            <a:off x="5478414" y="4156659"/>
            <a:ext cx="962519" cy="244534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6276170" y="4372366"/>
                <a:ext cx="6922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≈0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170" y="4372366"/>
                <a:ext cx="692241" cy="307777"/>
              </a:xfrm>
              <a:prstGeom prst="rect">
                <a:avLst/>
              </a:prstGeom>
              <a:blipFill rotWithShape="0">
                <a:blip r:embed="rId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271177" y="3465654"/>
                <a:ext cx="3305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177" y="3465654"/>
                <a:ext cx="330539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74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11" grpId="0" animBg="1"/>
      <p:bldP spid="12" grpId="0"/>
      <p:bldP spid="13" grpId="0" animBg="1"/>
      <p:bldP spid="14" grpId="0"/>
      <p:bldP spid="15" grpId="0"/>
      <p:bldP spid="20" grpId="0"/>
      <p:bldP spid="24" grpId="0"/>
      <p:bldP spid="29" grpId="0" animBg="1"/>
      <p:bldP spid="30" grpId="0" animBg="1"/>
      <p:bldP spid="31" grpId="0"/>
      <p:bldP spid="32" grpId="0"/>
      <p:bldP spid="33" grpId="0"/>
      <p:bldP spid="34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\\descartessmb\hdenli\codes\vvave\research\mumford_shah\mat_files\marmousi_segmentation_alpha200_phi_spars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7" t="36356" r="8334" b="42086"/>
          <a:stretch/>
        </p:blipFill>
        <p:spPr bwMode="auto">
          <a:xfrm>
            <a:off x="4883337" y="4679652"/>
            <a:ext cx="3748668" cy="76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\\descartessmb\hdenli\codes\vvave\research\mumford_shah\marmousi_phi_alpha10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6" t="34967" r="6845" b="41727"/>
          <a:stretch/>
        </p:blipFill>
        <p:spPr bwMode="auto">
          <a:xfrm>
            <a:off x="4892392" y="2639088"/>
            <a:ext cx="3857118" cy="82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a proof-of-concept, we apply Mumford-Shah to </a:t>
            </a:r>
            <a:r>
              <a:rPr lang="en-US" dirty="0" smtClean="0"/>
              <a:t>segment </a:t>
            </a:r>
            <a:r>
              <a:rPr lang="en-US" dirty="0" err="1" smtClean="0"/>
              <a:t>Marmousi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3" r="3316" b="29382"/>
          <a:stretch/>
        </p:blipFill>
        <p:spPr bwMode="auto">
          <a:xfrm>
            <a:off x="4883337" y="1884094"/>
            <a:ext cx="3835732" cy="82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5" t="1" r="3152" b="29381"/>
          <a:stretch/>
        </p:blipFill>
        <p:spPr bwMode="auto">
          <a:xfrm>
            <a:off x="4883337" y="3882093"/>
            <a:ext cx="3820202" cy="82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817597" y="1842046"/>
            <a:ext cx="3994037" cy="1682628"/>
          </a:xfrm>
          <a:prstGeom prst="rect">
            <a:avLst/>
          </a:prstGeom>
          <a:noFill/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11565" y="1694921"/>
                <a:ext cx="1598761" cy="2769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</a:rPr>
                        <m:t>=10, </m:t>
                      </m:r>
                      <m:r>
                        <a:rPr lang="en-US" b="0" i="1" smtClean="0">
                          <a:latin typeface="Cambria Math"/>
                        </a:rPr>
                        <m:t>𝛽</m:t>
                      </m:r>
                      <m:r>
                        <a:rPr lang="en-US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565" y="1694921"/>
                <a:ext cx="1598761" cy="27699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4817597" y="3817973"/>
            <a:ext cx="3994037" cy="1755019"/>
          </a:xfrm>
          <a:prstGeom prst="rect">
            <a:avLst/>
          </a:prstGeom>
          <a:noFill/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154701" y="3683211"/>
                <a:ext cx="1696510" cy="2769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</a:rPr>
                        <m:t>=100, </m:t>
                      </m:r>
                      <m:r>
                        <a:rPr lang="en-US" b="0" i="1" smtClean="0">
                          <a:latin typeface="Cambria Math"/>
                        </a:rPr>
                        <m:t>𝛽</m:t>
                      </m:r>
                      <m:r>
                        <a:rPr lang="en-US" b="0" i="1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701" y="3683211"/>
                <a:ext cx="1696510" cy="27699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" t="-1716" r="2825" b="-570"/>
          <a:stretch/>
        </p:blipFill>
        <p:spPr bwMode="auto">
          <a:xfrm>
            <a:off x="324244" y="1860752"/>
            <a:ext cx="4131211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60725" y="2385141"/>
                <a:ext cx="595221" cy="27026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𝑃</m:t>
                              </m:r>
                            </m:sub>
                          </m:sSub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𝑡𝑟𝑢𝑒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725" y="2385141"/>
                <a:ext cx="595221" cy="270267"/>
              </a:xfrm>
              <a:prstGeom prst="rect">
                <a:avLst/>
              </a:prstGeom>
              <a:blipFill rotWithShape="1">
                <a:blip r:embed="rId11"/>
                <a:stretch>
                  <a:fillRect l="-7143" r="-3061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730449" y="3170854"/>
                <a:ext cx="477761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𝜙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449" y="3170854"/>
                <a:ext cx="477761" cy="246221"/>
              </a:xfrm>
              <a:prstGeom prst="rect">
                <a:avLst/>
              </a:prstGeom>
              <a:blipFill rotWithShape="1">
                <a:blip r:embed="rId12"/>
                <a:stretch>
                  <a:fillRect l="-7692" r="-15385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933170" y="2414361"/>
                <a:ext cx="24568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170" y="2414361"/>
                <a:ext cx="245682" cy="246221"/>
              </a:xfrm>
              <a:prstGeom prst="rect">
                <a:avLst/>
              </a:prstGeom>
              <a:blipFill rotWithShape="1">
                <a:blip r:embed="rId13"/>
                <a:stretch>
                  <a:fillRect l="-19512" r="-9756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905282" y="4386950"/>
                <a:ext cx="24568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282" y="4386950"/>
                <a:ext cx="245682" cy="246221"/>
              </a:xfrm>
              <a:prstGeom prst="rect">
                <a:avLst/>
              </a:prstGeom>
              <a:blipFill rotWithShape="1">
                <a:blip r:embed="rId14"/>
                <a:stretch>
                  <a:fillRect l="-22500" r="-10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701090" y="5165296"/>
                <a:ext cx="477761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𝜙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090" y="5165296"/>
                <a:ext cx="477761" cy="246221"/>
              </a:xfrm>
              <a:prstGeom prst="rect">
                <a:avLst/>
              </a:prstGeom>
              <a:blipFill rotWithShape="1">
                <a:blip r:embed="rId15"/>
                <a:stretch>
                  <a:fillRect l="-7595" r="-1392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14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\\descartessmb\hdenli\codes\vvave\research\mumford_shah\demos\figures\multiparameter_ztruemodel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9" r="16724"/>
          <a:stretch/>
        </p:blipFill>
        <p:spPr bwMode="auto">
          <a:xfrm>
            <a:off x="2043824" y="4045306"/>
            <a:ext cx="3048857" cy="261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example estimates an anisotropic permeability tensor from pressure data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78754" y="1493813"/>
                <a:ext cx="7975124" cy="7232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 smtClean="0"/>
                  <a:t>One-phase flow</a:t>
                </a:r>
                <a:r>
                  <a:rPr lang="en-US" dirty="0" smtClean="0"/>
                  <a:t>: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r>
                        <a:rPr lang="en-US" b="0" i="0" smtClean="0">
                          <a:latin typeface="Cambria Math"/>
                        </a:rPr>
                        <m:t>𝛻</m:t>
                      </m:r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𝜅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𝛻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x</m:t>
                          </m:r>
                        </m:e>
                      </m:d>
                      <m:r>
                        <a:rPr lang="en-US" b="0" i="0" smtClean="0">
                          <a:latin typeface="Cambria Math"/>
                        </a:rPr>
                        <m:t>=1+</m:t>
                      </m:r>
                      <m:r>
                        <a:rPr lang="en-US" b="0" i="1" smtClean="0">
                          <a:latin typeface="Cambria Math"/>
                        </a:rPr>
                        <m:t>𝜖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54" y="1493813"/>
                <a:ext cx="7975124" cy="723275"/>
              </a:xfrm>
              <a:prstGeom prst="rect">
                <a:avLst/>
              </a:prstGeom>
              <a:blipFill rotWithShape="0">
                <a:blip r:embed="rId4"/>
                <a:stretch>
                  <a:fillRect l="-688" t="-420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840836" y="3585886"/>
            <a:ext cx="213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Target permeability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14693" y="3846887"/>
                <a:ext cx="5779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𝜿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𝒛𝒛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693" y="3846887"/>
                <a:ext cx="577988" cy="276999"/>
              </a:xfrm>
              <a:prstGeom prst="rect">
                <a:avLst/>
              </a:prstGeom>
              <a:blipFill rotWithShape="0">
                <a:blip r:embed="rId5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1" name="Picture 7" descr="\\descartessmb\hdenli\codes\vvave\research\mumford_shah\demos\figures\multiparameter_xtruemodel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" t="4354" r="16724"/>
          <a:stretch/>
        </p:blipFill>
        <p:spPr bwMode="auto">
          <a:xfrm>
            <a:off x="25400" y="4036138"/>
            <a:ext cx="2784456" cy="262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18830" y="3846888"/>
                <a:ext cx="5779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𝜿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𝒙𝒙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830" y="3846888"/>
                <a:ext cx="577988" cy="276999"/>
              </a:xfrm>
              <a:prstGeom prst="rect">
                <a:avLst/>
              </a:prstGeom>
              <a:blipFill rotWithShape="0">
                <a:blip r:embed="rId7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3" name="Picture 9" descr="\\descartessmb\hdenli\codes\vvave\research\mumford_shah\demos\figures\multiparameter_fulldata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3" r="17145"/>
          <a:stretch/>
        </p:blipFill>
        <p:spPr bwMode="auto">
          <a:xfrm>
            <a:off x="5695950" y="3870960"/>
            <a:ext cx="2790200" cy="283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6172432" y="3514844"/>
            <a:ext cx="231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Pressure</a:t>
            </a:r>
          </a:p>
        </p:txBody>
      </p:sp>
      <p:pic>
        <p:nvPicPr>
          <p:cNvPr id="1034" name="Picture 10" descr="\\descartessmb\hdenli\codes\vvave\research\mumford_shah\demos\figures\multiparameter_data_colorbar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8" r="76284"/>
          <a:stretch/>
        </p:blipFill>
        <p:spPr bwMode="auto">
          <a:xfrm>
            <a:off x="8551098" y="3770552"/>
            <a:ext cx="400648" cy="301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\\descartessmb\hdenli\codes\vvave\research\mumford_shah\demos\figures\multiparameter_model_colorbar.png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7" t="7176" r="77951" b="3166"/>
          <a:stretch/>
        </p:blipFill>
        <p:spPr bwMode="auto">
          <a:xfrm>
            <a:off x="5114798" y="4045307"/>
            <a:ext cx="356600" cy="260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78096" y="1396498"/>
            <a:ext cx="104489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 smtClean="0"/>
              <a:t>Noise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9647" y="2536417"/>
                <a:ext cx="8004231" cy="6068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b="1" dirty="0" smtClean="0"/>
                  <a:t>Inverse problem</a:t>
                </a:r>
                <a:r>
                  <a:rPr lang="en-US" dirty="0"/>
                  <a:t>: Determine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everywhere.</a:t>
                </a:r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7" y="2536417"/>
                <a:ext cx="8004231" cy="606833"/>
              </a:xfrm>
              <a:prstGeom prst="rect">
                <a:avLst/>
              </a:prstGeom>
              <a:blipFill rotWithShape="0">
                <a:blip r:embed="rId11"/>
                <a:stretch>
                  <a:fillRect l="-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/>
          <p:cNvSpPr/>
          <p:nvPr/>
        </p:nvSpPr>
        <p:spPr>
          <a:xfrm rot="16200000" flipV="1">
            <a:off x="5473017" y="1573659"/>
            <a:ext cx="182880" cy="274320"/>
          </a:xfrm>
          <a:prstGeom prst="rightBrace">
            <a:avLst>
              <a:gd name="adj1" fmla="val 8333"/>
              <a:gd name="adj2" fmla="val 37219"/>
            </a:avLst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\\descartessmb\hdenli\codes\vvave\research\mumford_shah\demos\figures\multiparameter_phi_colorbar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8" t="7466" r="76184" b="2431"/>
          <a:stretch/>
        </p:blipFill>
        <p:spPr bwMode="auto">
          <a:xfrm>
            <a:off x="6186291" y="4739640"/>
            <a:ext cx="346429" cy="19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M-S eliminates non-uniqueness through a structural constraint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 rot="16200000">
            <a:off x="-279229" y="5567941"/>
            <a:ext cx="18108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Mumford-Shah</a:t>
            </a:r>
            <a:endParaRPr lang="en-US" sz="1600" dirty="0"/>
          </a:p>
        </p:txBody>
      </p:sp>
      <p:pic>
        <p:nvPicPr>
          <p:cNvPr id="30" name="Picture 8" descr="\\descartessmb\hdenli\codes\vvave\research\mumford_shah\demos\figures\multiparameter_ztruemodel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9" r="16724"/>
          <a:stretch/>
        </p:blipFill>
        <p:spPr bwMode="auto">
          <a:xfrm>
            <a:off x="2439432" y="1574558"/>
            <a:ext cx="2022323" cy="173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342157" y="1158225"/>
                <a:ext cx="5779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𝜿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𝒛𝒛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157" y="1158225"/>
                <a:ext cx="577988" cy="276999"/>
              </a:xfrm>
              <a:prstGeom prst="rect">
                <a:avLst/>
              </a:prstGeom>
              <a:blipFill rotWithShape="0">
                <a:blip r:embed="rId6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7" descr="\\descartessmb\hdenli\codes\vvave\research\mumford_shah\demos\figures\multiparameter_xtruemodel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2" t="4354" r="16724"/>
          <a:stretch/>
        </p:blipFill>
        <p:spPr bwMode="auto">
          <a:xfrm>
            <a:off x="941126" y="1574626"/>
            <a:ext cx="1840491" cy="173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762685" y="1158225"/>
                <a:ext cx="5779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𝜿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𝒙𝒙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685" y="1158225"/>
                <a:ext cx="577988" cy="276999"/>
              </a:xfrm>
              <a:prstGeom prst="rect">
                <a:avLst/>
              </a:prstGeom>
              <a:blipFill rotWithShape="0">
                <a:blip r:embed="rId8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 rot="16200000">
            <a:off x="238316" y="2137331"/>
            <a:ext cx="775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True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43852" y="3765879"/>
            <a:ext cx="1164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/>
              <a:t>Voxelized</a:t>
            </a:r>
            <a:endParaRPr lang="en-US" sz="1600" dirty="0"/>
          </a:p>
        </p:txBody>
      </p:sp>
      <p:pic>
        <p:nvPicPr>
          <p:cNvPr id="2055" name="Picture 7" descr="\\descartessmb\hdenli\codes\vvave\research\mumford_shah\demos\figures\multiparameter_initphi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1" t="6749" r="16197"/>
          <a:stretch/>
        </p:blipFill>
        <p:spPr bwMode="auto">
          <a:xfrm>
            <a:off x="4378747" y="4964436"/>
            <a:ext cx="1802561" cy="171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\\descartessmb\hdenli\codes\vvave\research\mumford_shah\demos\figures\multiparameter_invertedmodel_zmumford.png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3" t="5870" r="16882"/>
          <a:stretch/>
        </p:blipFill>
        <p:spPr bwMode="auto">
          <a:xfrm>
            <a:off x="2672052" y="4959446"/>
            <a:ext cx="1780631" cy="17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\\descartessmb\hdenli\codes\vvave\research\mumford_shah\demos\figures\multiparameter_invertedmodel_xmumford.png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4" t="6749" r="17277"/>
          <a:stretch/>
        </p:blipFill>
        <p:spPr bwMode="auto">
          <a:xfrm>
            <a:off x="991366" y="4973445"/>
            <a:ext cx="1778431" cy="17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083394" y="4499083"/>
                <a:ext cx="5779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𝝓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394" y="4499083"/>
                <a:ext cx="577988" cy="276999"/>
              </a:xfrm>
              <a:prstGeom prst="rect">
                <a:avLst/>
              </a:prstGeom>
              <a:blipFill rotWithShape="0">
                <a:blip r:embed="rId14"/>
                <a:stretch>
                  <a:fillRect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6359505" y="1259008"/>
            <a:ext cx="163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Convergence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027" y="1738133"/>
            <a:ext cx="3555697" cy="26667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9" t="7746" r="16724" b="1969"/>
          <a:stretch/>
        </p:blipFill>
        <p:spPr>
          <a:xfrm>
            <a:off x="1074461" y="3352798"/>
            <a:ext cx="1702277" cy="16514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39" t="6940" r="16664" b="2774"/>
          <a:stretch/>
        </p:blipFill>
        <p:spPr>
          <a:xfrm>
            <a:off x="2768591" y="3323580"/>
            <a:ext cx="1717430" cy="166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8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example examines joint travel-time and gravity inversion of a rectangular anomaly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44000" cy="22214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38600"/>
            <a:ext cx="9144000" cy="21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9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data consists of first-arrival and gravity surface measurements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3998"/>
            <a:ext cx="4075469" cy="47319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24255"/>
            <a:ext cx="4905076" cy="353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7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Inversion using travel-time data does a good job recovering velocity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80201"/>
            <a:ext cx="9144000" cy="21515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962400"/>
            <a:ext cx="9144000" cy="211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Inversion of gravity data alone is unable to resolve the anomaly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21722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012199"/>
            <a:ext cx="9144000" cy="21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62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Joint inversion improves the density field and provides a small uplift to wave speed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63" y="1219200"/>
            <a:ext cx="9144000" cy="2051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6196"/>
            <a:ext cx="9144000" cy="2161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4986899"/>
            <a:ext cx="9144000" cy="21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2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acoustic FWI example, two salt bodies are overlaid on the standard </a:t>
            </a:r>
            <a:r>
              <a:rPr lang="en-US" dirty="0" err="1" smtClean="0"/>
              <a:t>Marmousi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89113" y="1752600"/>
            <a:ext cx="252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True velocity model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30631" y="2963995"/>
            <a:ext cx="252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Initial velocity model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55" y="3333327"/>
            <a:ext cx="4011562" cy="731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55" y="2121932"/>
            <a:ext cx="4011562" cy="731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1" name="Picture 3" descr="\\descartessmb\hdenli\codes\pdeco\trunk\ShapeInversion\examples\saltymarmousi_lowcutsource_ms_nsource100_nskp10_c3\iter0_phi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32" y="4737782"/>
            <a:ext cx="4012685" cy="7315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108524" y="4375799"/>
            <a:ext cx="252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Initial boundary set</a:t>
            </a:r>
            <a:endParaRPr lang="en-US" dirty="0"/>
          </a:p>
        </p:txBody>
      </p:sp>
      <p:pic>
        <p:nvPicPr>
          <p:cNvPr id="2057" name="Picture 9" descr="\\descartessmb\hdenli\codes\pdeco\trunk\ShapeInversion\examples\saltymarmousi_lowcutsource_ms_nsource100_nskp10_alpha1m6_beta1m7_eps2m2_iter250_phi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49"/>
          <a:stretch/>
        </p:blipFill>
        <p:spPr bwMode="auto">
          <a:xfrm>
            <a:off x="1014314" y="5507402"/>
            <a:ext cx="2559934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\\descartessmb\hdenli\codes\pdeco\trunk\ShapeInversion\examples\saltymarmousi_lowcutsource_ms_nsource100_nskp10_alpha1m6_beta1m7_eps2m2_iter0_vel.pn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98"/>
          <a:stretch/>
        </p:blipFill>
        <p:spPr bwMode="auto">
          <a:xfrm>
            <a:off x="1075504" y="4093779"/>
            <a:ext cx="2560320" cy="27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5" descr="\\descartessmb\hdenli\codes\pdeco\trunk\ShapeInversion\examples\__temp3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555" y="4783502"/>
            <a:ext cx="376189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" descr="\\descartessmb\hdenli\codes\pdeco\trunk\ShapeInversion\examples\saltymarmousi_lowcutsource_ms_nsource100_nskp10_alpha1m8_beta1m9_eps2m2_continuation500_2\iter500_velocity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356028"/>
            <a:ext cx="3886200" cy="70881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5578815" y="2963651"/>
            <a:ext cx="3107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M-S: inverted velocity model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03850" y="4414170"/>
            <a:ext cx="328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M-S: inverted boundary 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32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3688"/>
            <a:ext cx="8203916" cy="762000"/>
          </a:xfrm>
        </p:spPr>
        <p:txBody>
          <a:bodyPr/>
          <a:lstStyle/>
          <a:p>
            <a:r>
              <a:rPr lang="en-US" dirty="0" smtClean="0"/>
              <a:t>Continuation on M-S parameters improves convergence</a:t>
            </a:r>
            <a:endParaRPr lang="en-US" dirty="0"/>
          </a:p>
        </p:txBody>
      </p:sp>
      <p:pic>
        <p:nvPicPr>
          <p:cNvPr id="5126" name="Picture 6" descr="\\descartessmb\hdenli\codes\pdeco\trunk\ShapeInversion\examples\saltymarmousi_lowcutsource_ms_data_error_rohan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"/>
          <a:stretch/>
        </p:blipFill>
        <p:spPr bwMode="auto">
          <a:xfrm>
            <a:off x="438149" y="1845707"/>
            <a:ext cx="405288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\\descartessmb\hdenli\codes\pdeco\trunk\ShapeInversion\examples\saltymarmousi_lowcutsource_ms_model_error_rohan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5"/>
          <a:stretch/>
        </p:blipFill>
        <p:spPr bwMode="auto">
          <a:xfrm>
            <a:off x="4772024" y="1845707"/>
            <a:ext cx="4121467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276350" y="1574628"/>
            <a:ext cx="221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05468" y="1533532"/>
                <a:ext cx="3167973" cy="539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Model error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dirty="0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dirty="0" smtClean="0">
                                        <a:latin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latin typeface="Cambria Math"/>
                                      </a:rPr>
                                      <m:t>𝑃</m:t>
                                    </m:r>
                                  </m:sub>
                                  <m:sup>
                                    <m:r>
                                      <a:rPr lang="en-US" sz="1600" b="0" i="1" dirty="0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sz="1600" i="1" dirty="0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dirty="0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dirty="0" smtClean="0">
                                            <a:latin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 smtClean="0">
                                            <a:latin typeface="Cambria Math"/>
                                          </a:rPr>
                                          <m:t>𝑃</m:t>
                                        </m:r>
                                      </m:sub>
                                      <m:sup>
                                        <m:r>
                                          <a:rPr lang="en-US" sz="1600" b="0" i="1" dirty="0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/>
                                      </a:rPr>
                                      <m:t>𝑡𝑟𝑢𝑒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sz="1600" b="0" i="1" dirty="0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468" y="1533532"/>
                <a:ext cx="3167973" cy="539700"/>
              </a:xfrm>
              <a:prstGeom prst="rect">
                <a:avLst/>
              </a:prstGeom>
              <a:blipFill rotWithShape="1">
                <a:blip r:embed="rId5"/>
                <a:stretch>
                  <a:fillRect t="-75000" b="-12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42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7" descr="\\descartessmb\hdenli\codes\pdeco\trunk\ShapeInversion\examples\saltymarmousi_lowcutsource_ms_model_error_roha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087242"/>
            <a:ext cx="4450080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\\descartessmb\hdenli\codes\pdeco\trunk\ShapeInversion\examples\saltymarmousi_lowcutsource_ms_nsource100_nskp10_alpha1m8_beta1m9_eps2m2_continuation500_2\iter500_velocit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613" y="4648200"/>
            <a:ext cx="3759995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105" y="1190598"/>
            <a:ext cx="3760838" cy="685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082" y="2867188"/>
            <a:ext cx="3760838" cy="685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Straight Arrow Connector 16"/>
          <p:cNvCxnSpPr>
            <a:stCxn id="18" idx="7"/>
          </p:cNvCxnSpPr>
          <p:nvPr/>
        </p:nvCxnSpPr>
        <p:spPr>
          <a:xfrm flipV="1">
            <a:off x="1343425" y="1876398"/>
            <a:ext cx="2897676" cy="1611932"/>
          </a:xfrm>
          <a:prstGeom prst="straightConnector1">
            <a:avLst/>
          </a:prstGeom>
          <a:ln w="38100">
            <a:solidFill>
              <a:schemeClr val="tx2"/>
            </a:solidFill>
            <a:headEnd type="none" w="med" len="med"/>
            <a:tailEnd type="triangle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87327" y="3461548"/>
            <a:ext cx="182880" cy="182880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20" idx="7"/>
          </p:cNvCxnSpPr>
          <p:nvPr/>
        </p:nvCxnSpPr>
        <p:spPr>
          <a:xfrm flipV="1">
            <a:off x="2302833" y="3552988"/>
            <a:ext cx="2334249" cy="99435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146735" y="4520557"/>
            <a:ext cx="182880" cy="18288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22" idx="5"/>
          </p:cNvCxnSpPr>
          <p:nvPr/>
        </p:nvCxnSpPr>
        <p:spPr>
          <a:xfrm>
            <a:off x="4214319" y="4911108"/>
            <a:ext cx="720766" cy="419864"/>
          </a:xfrm>
          <a:prstGeom prst="straightConnector1">
            <a:avLst/>
          </a:prstGeom>
          <a:ln w="38100">
            <a:solidFill>
              <a:srgbClr val="07F907"/>
            </a:solidFill>
            <a:headEnd type="none" w="med" len="med"/>
            <a:tailEnd type="triangle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058221" y="4755010"/>
            <a:ext cx="182880" cy="182880"/>
          </a:xfrm>
          <a:prstGeom prst="ellipse">
            <a:avLst/>
          </a:prstGeom>
          <a:noFill/>
          <a:ln>
            <a:solidFill>
              <a:srgbClr val="07F90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7709817" y="1563728"/>
                <a:ext cx="305084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817" y="1563728"/>
                <a:ext cx="305084" cy="301878"/>
              </a:xfrm>
              <a:prstGeom prst="rect">
                <a:avLst/>
              </a:prstGeom>
              <a:blipFill rotWithShape="0">
                <a:blip r:embed="rId7"/>
                <a:stretch>
                  <a:fillRect l="-16000" r="-600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6" descr="\\descartessmb\hdenli\codes\pdeco\trunk\ShapeInversion\examples\saltymarmousi_lowcutsource_ms_data_error2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22" t="8379" r="10190" b="71916"/>
          <a:stretch/>
        </p:blipFill>
        <p:spPr bwMode="auto">
          <a:xfrm>
            <a:off x="2235200" y="1340339"/>
            <a:ext cx="1174750" cy="7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1408779" y="1895448"/>
            <a:ext cx="221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Model convergence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8092836" y="3232060"/>
                <a:ext cx="305084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836" y="3232060"/>
                <a:ext cx="305084" cy="301878"/>
              </a:xfrm>
              <a:prstGeom prst="rect">
                <a:avLst/>
              </a:prstGeom>
              <a:blipFill rotWithShape="0">
                <a:blip r:embed="rId9"/>
                <a:stretch>
                  <a:fillRect l="-16000" r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8452561" y="4942733"/>
                <a:ext cx="305084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561" y="4942733"/>
                <a:ext cx="305084" cy="301878"/>
              </a:xfrm>
              <a:prstGeom prst="rect">
                <a:avLst/>
              </a:prstGeom>
              <a:blipFill rotWithShape="0">
                <a:blip r:embed="rId10"/>
                <a:stretch>
                  <a:fillRect l="-16000" r="-6000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\\descartessmb\hdenli\codes\pdeco\trunk\ShapeInversion\examples\__temp1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049" y="1888499"/>
            <a:ext cx="3761894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7773358" y="2314695"/>
                <a:ext cx="20197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358" y="2314695"/>
                <a:ext cx="201978" cy="246221"/>
              </a:xfrm>
              <a:prstGeom prst="rect">
                <a:avLst/>
              </a:prstGeom>
              <a:blipFill rotWithShape="0">
                <a:blip r:embed="rId12"/>
                <a:stretch>
                  <a:fillRect l="-30303" r="-3333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\\descartessmb\hdenli\codes\pdeco\trunk\ShapeInversion\examples\__temp2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115" y="3563160"/>
            <a:ext cx="3761891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8164096" y="3981453"/>
                <a:ext cx="20197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096" y="3981453"/>
                <a:ext cx="201978" cy="246221"/>
              </a:xfrm>
              <a:prstGeom prst="rect">
                <a:avLst/>
              </a:prstGeom>
              <a:blipFill rotWithShape="0">
                <a:blip r:embed="rId14"/>
                <a:stretch>
                  <a:fillRect l="-30303" r="-33333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5" descr="\\descartessmb\hdenli\codes\pdeco\trunk\ShapeInversion\examples\__temp3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613" y="5334000"/>
            <a:ext cx="376189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8504114" y="5673076"/>
                <a:ext cx="20197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114" y="5673076"/>
                <a:ext cx="201978" cy="246221"/>
              </a:xfrm>
              <a:prstGeom prst="rect">
                <a:avLst/>
              </a:prstGeom>
              <a:blipFill rotWithShape="0">
                <a:blip r:embed="rId16"/>
                <a:stretch>
                  <a:fillRect l="-30303" r="-33333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57200" y="293688"/>
            <a:ext cx="8229600" cy="762000"/>
          </a:xfrm>
        </p:spPr>
        <p:txBody>
          <a:bodyPr/>
          <a:lstStyle/>
          <a:p>
            <a:r>
              <a:rPr lang="en-US" dirty="0">
                <a:solidFill>
                  <a:srgbClr val="ED1C2E"/>
                </a:solidFill>
              </a:rPr>
              <a:t>Continuation identifies features in a coarse-to-fine manner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123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Shape-based inversion provides a structurally consistent approach for performing multi-parameter and joint inversion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Diffuse interface approximation enables a flexible geometric representation of a wide variety of shapes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Continuation in geometric hyper-parameters enables multi-scale representation and inversion of shapes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47608"/>
      </p:ext>
    </p:extLst>
  </p:cSld>
  <p:clrMapOvr>
    <a:masterClrMapping/>
  </p:clrMapOvr>
</p:sld>
</file>

<file path=ppt/theme/theme1.xml><?xml version="1.0" encoding="utf-8"?>
<a:theme xmlns:a="http://schemas.openxmlformats.org/drawingml/2006/main" name="2014_Template">
  <a:themeElements>
    <a:clrScheme name="ExxonMobil2">
      <a:dk1>
        <a:srgbClr val="000000"/>
      </a:dk1>
      <a:lt1>
        <a:srgbClr val="FFFFFF"/>
      </a:lt1>
      <a:dk2>
        <a:srgbClr val="ED1C2E"/>
      </a:dk2>
      <a:lt2>
        <a:srgbClr val="5A5A5A"/>
      </a:lt2>
      <a:accent1>
        <a:srgbClr val="0C479D"/>
      </a:accent1>
      <a:accent2>
        <a:srgbClr val="00A3E0"/>
      </a:accent2>
      <a:accent3>
        <a:srgbClr val="00ACA8"/>
      </a:accent3>
      <a:accent4>
        <a:srgbClr val="B4D405"/>
      </a:accent4>
      <a:accent5>
        <a:srgbClr val="FFD700"/>
      </a:accent5>
      <a:accent6>
        <a:srgbClr val="ED8B00"/>
      </a:accent6>
      <a:hlink>
        <a:srgbClr val="0C479D"/>
      </a:hlink>
      <a:folHlink>
        <a:srgbClr val="00A3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12700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37338</TotalTime>
  <Words>510</Words>
  <Application>Microsoft Office PowerPoint</Application>
  <PresentationFormat>On-screen Show (4:3)</PresentationFormat>
  <Paragraphs>139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ヒラギノ角ゴ Pro W3</vt:lpstr>
      <vt:lpstr>2014_Template</vt:lpstr>
      <vt:lpstr>PowerPoint Presentation</vt:lpstr>
      <vt:lpstr>Outline</vt:lpstr>
      <vt:lpstr>Our goal is to estimate multiple subsurface parameters in a structurally consistent manner</vt:lpstr>
      <vt:lpstr>We consider two shape-constrained inversion techniques: Mumford-Shah and phase-field</vt:lpstr>
      <vt:lpstr>Phase-field inversion represents a diffuse interface discretization</vt:lpstr>
      <vt:lpstr>Mumford-Shah is discretized using the Ambrosio-Tortorelli approximation</vt:lpstr>
      <vt:lpstr>As a proof-of-concept, we apply Mumford-Shah to segment Marmousi</vt:lpstr>
      <vt:lpstr>This example estimates an anisotropic permeability tensor from pressure data</vt:lpstr>
      <vt:lpstr>M-S eliminates non-uniqueness through a structural constraint</vt:lpstr>
      <vt:lpstr>This example examines joint travel-time and gravity inversion of a rectangular anomaly</vt:lpstr>
      <vt:lpstr>The data consists of first-arrival and gravity surface measurements</vt:lpstr>
      <vt:lpstr>Inversion using travel-time data does a good job recovering velocity</vt:lpstr>
      <vt:lpstr>Inversion of gravity data alone is unable to resolve the anomaly</vt:lpstr>
      <vt:lpstr>Joint inversion improves the density field and provides a small uplift to wave speed</vt:lpstr>
      <vt:lpstr>In this acoustic FWI example, two salt bodies are overlaid on the standard Marmousi model</vt:lpstr>
      <vt:lpstr>Continuation on M-S parameters improves convergence</vt:lpstr>
      <vt:lpstr>Continuation identifies features in a coarse-to-fine manner</vt:lpstr>
      <vt:lpstr>Conclusion</vt:lpstr>
    </vt:vector>
  </TitlesOfParts>
  <Company>ExxonMobil or an Affiliate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Brandman, Jeremy S</dc:creator>
  <cp:lastModifiedBy>Brandman, Jeremy S</cp:lastModifiedBy>
  <cp:revision>276</cp:revision>
  <cp:lastPrinted>2015-04-17T13:14:04Z</cp:lastPrinted>
  <dcterms:created xsi:type="dcterms:W3CDTF">2014-12-29T20:33:36Z</dcterms:created>
  <dcterms:modified xsi:type="dcterms:W3CDTF">2019-02-28T20:39:40Z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2094604869</vt:i4>
  </property>
  <property fmtid="{D5CDD505-2E9C-101B-9397-08002B2CF9AE}" pid="3" name="_NewReviewCycle">
    <vt:lpwstr/>
  </property>
  <property fmtid="{D5CDD505-2E9C-101B-9397-08002B2CF9AE}" pid="4" name="_EmailSubject">
    <vt:lpwstr>SIAM </vt:lpwstr>
  </property>
  <property fmtid="{D5CDD505-2E9C-101B-9397-08002B2CF9AE}" pid="5" name="_AuthorEmail">
    <vt:lpwstr>jeremy.s.brandman@exxonmobil.com</vt:lpwstr>
  </property>
  <property fmtid="{D5CDD505-2E9C-101B-9397-08002B2CF9AE}" pid="6" name="_AuthorEmailDisplayName">
    <vt:lpwstr>Brandman, Jeremy S</vt:lpwstr>
  </property>
</Properties>
</file>